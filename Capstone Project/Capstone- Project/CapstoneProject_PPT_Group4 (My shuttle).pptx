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9" r:id="rId5"/>
    <p:sldId id="260" r:id="rId6"/>
    <p:sldId id="273" r:id="rId7"/>
    <p:sldId id="277" r:id="rId8"/>
    <p:sldId id="272" r:id="rId9"/>
    <p:sldId id="275" r:id="rId10"/>
    <p:sldId id="282" r:id="rId11"/>
    <p:sldId id="263" r:id="rId12"/>
    <p:sldId id="283" r:id="rId13"/>
    <p:sldId id="279" r:id="rId14"/>
    <p:sldId id="281" r:id="rId15"/>
    <p:sldId id="278" r:id="rId16"/>
    <p:sldId id="280" r:id="rId17"/>
    <p:sldId id="276"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102C"/>
    <a:srgbClr val="AFAAB9"/>
    <a:srgbClr val="71758A"/>
    <a:srgbClr val="D4EBD8"/>
    <a:srgbClr val="3B5D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DF119-ECF2-F6F7-703B-ED0B33915907}" v="6" dt="2025-05-26T06:15:03.154"/>
    <p1510:client id="{0EF1ECD7-3381-0A13-7FF2-8BE84C679FEE}" v="137" dt="2025-05-26T08:24:51.321"/>
    <p1510:client id="{6F852F4E-19E0-7F0E-7C9F-B9A524A93C68}" v="14" dt="2025-05-26T08:47:43.175"/>
    <p1510:client id="{C0603DF1-2282-6B11-8F15-C8BC3F80175F}" v="69" dt="2025-05-26T08:31:53.320"/>
    <p1510:client id="{D34A00B1-7998-B2B3-9192-237965A8DCA7}" v="4" dt="2025-05-26T08:48:35.907"/>
    <p1510:client id="{E27BB157-38B4-3CD9-BF7C-5360CB2DFEDC}" v="346" dt="2025-05-26T05:19:49.847"/>
    <p1510:client id="{EFC71A71-149A-73B1-8434-7388645A1FAA}" v="374" dt="2025-05-26T05:54:32.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Palleboina" userId="S::sai.palleboina@ascendion.com::ec686f2d-b687-4a8a-9c0e-5e71a9543272" providerId="AD" clId="Web-{D34A00B1-7998-B2B3-9192-237965A8DCA7}"/>
    <pc:docChg chg="modSld">
      <pc:chgData name="Sai Palleboina" userId="S::sai.palleboina@ascendion.com::ec686f2d-b687-4a8a-9c0e-5e71a9543272" providerId="AD" clId="Web-{D34A00B1-7998-B2B3-9192-237965A8DCA7}" dt="2025-05-26T08:48:35.907" v="1" actId="20577"/>
      <pc:docMkLst>
        <pc:docMk/>
      </pc:docMkLst>
      <pc:sldChg chg="modSp">
        <pc:chgData name="Sai Palleboina" userId="S::sai.palleboina@ascendion.com::ec686f2d-b687-4a8a-9c0e-5e71a9543272" providerId="AD" clId="Web-{D34A00B1-7998-B2B3-9192-237965A8DCA7}" dt="2025-05-26T08:48:35.907" v="1" actId="20577"/>
        <pc:sldMkLst>
          <pc:docMk/>
          <pc:sldMk cId="3534369315" sldId="276"/>
        </pc:sldMkLst>
        <pc:spChg chg="mod">
          <ac:chgData name="Sai Palleboina" userId="S::sai.palleboina@ascendion.com::ec686f2d-b687-4a8a-9c0e-5e71a9543272" providerId="AD" clId="Web-{D34A00B1-7998-B2B3-9192-237965A8DCA7}" dt="2025-05-26T08:48:35.907" v="1" actId="20577"/>
          <ac:spMkLst>
            <pc:docMk/>
            <pc:sldMk cId="3534369315" sldId="276"/>
            <ac:spMk id="2" creationId="{1745AA24-4446-8806-8E3A-C2D659883E90}"/>
          </ac:spMkLst>
        </pc:spChg>
      </pc:sldChg>
    </pc:docChg>
  </pc:docChgLst>
  <pc:docChgLst>
    <pc:chgData name="Shriya Jorrigala" userId="S::shriya.jorrigala@ascendion.com::237a5f55-5567-429e-997d-650d851d2c65" providerId="AD" clId="Web-{6F852F4E-19E0-7F0E-7C9F-B9A524A93C68}"/>
    <pc:docChg chg="modSld">
      <pc:chgData name="Shriya Jorrigala" userId="S::shriya.jorrigala@ascendion.com::237a5f55-5567-429e-997d-650d851d2c65" providerId="AD" clId="Web-{6F852F4E-19E0-7F0E-7C9F-B9A524A93C68}" dt="2025-05-26T08:47:43.175" v="6" actId="20577"/>
      <pc:docMkLst>
        <pc:docMk/>
      </pc:docMkLst>
      <pc:sldChg chg="modSp">
        <pc:chgData name="Shriya Jorrigala" userId="S::shriya.jorrigala@ascendion.com::237a5f55-5567-429e-997d-650d851d2c65" providerId="AD" clId="Web-{6F852F4E-19E0-7F0E-7C9F-B9A524A93C68}" dt="2025-05-26T08:47:43.175" v="6" actId="20577"/>
        <pc:sldMkLst>
          <pc:docMk/>
          <pc:sldMk cId="3534369315" sldId="276"/>
        </pc:sldMkLst>
        <pc:spChg chg="mod">
          <ac:chgData name="Shriya Jorrigala" userId="S::shriya.jorrigala@ascendion.com::237a5f55-5567-429e-997d-650d851d2c65" providerId="AD" clId="Web-{6F852F4E-19E0-7F0E-7C9F-B9A524A93C68}" dt="2025-05-26T08:47:43.175" v="6" actId="20577"/>
          <ac:spMkLst>
            <pc:docMk/>
            <pc:sldMk cId="3534369315" sldId="276"/>
            <ac:spMk id="2" creationId="{1745AA24-4446-8806-8E3A-C2D659883E9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198D47-E015-4BC9-BBDA-0279B0218493}" type="doc">
      <dgm:prSet loTypeId="urn:microsoft.com/office/officeart/2005/8/layout/default" loCatId="list" qsTypeId="urn:microsoft.com/office/officeart/2005/8/quickstyle/simple5" qsCatId="simple" csTypeId="urn:microsoft.com/office/officeart/2005/8/colors/colorful1" csCatId="colorful" phldr="1"/>
      <dgm:spPr/>
      <dgm:t>
        <a:bodyPr/>
        <a:lstStyle/>
        <a:p>
          <a:endParaRPr lang="en-US"/>
        </a:p>
      </dgm:t>
    </dgm:pt>
    <dgm:pt modelId="{4A513B6A-009F-49C4-BBED-5504D7A39E1C}">
      <dgm:prSet phldr="0"/>
      <dgm:spPr/>
      <dgm:t>
        <a:bodyPr/>
        <a:lstStyle/>
        <a:p>
          <a:pPr algn="l" rtl="0"/>
          <a:r>
            <a:rPr lang="en-GB" b="1">
              <a:latin typeface="Calibri"/>
              <a:ea typeface="Calibri"/>
              <a:cs typeface="Calibri"/>
            </a:rPr>
            <a:t>User Management (ID: 380)</a:t>
          </a:r>
          <a:br>
            <a:rPr lang="en-GB" b="1">
              <a:latin typeface="Calibri"/>
              <a:ea typeface="Calibri"/>
              <a:cs typeface="Calibri"/>
            </a:rPr>
          </a:br>
          <a:r>
            <a:rPr lang="en-GB">
              <a:latin typeface="Calibri"/>
              <a:ea typeface="Calibri"/>
              <a:cs typeface="Calibri"/>
            </a:rPr>
            <a:t>Handles user registration, login, profile management, and role-based access control to ensure secure and efficient user interactions.</a:t>
          </a:r>
          <a:endParaRPr lang="en-US">
            <a:latin typeface="Calibri"/>
            <a:ea typeface="Calibri"/>
            <a:cs typeface="Calibri"/>
          </a:endParaRPr>
        </a:p>
      </dgm:t>
    </dgm:pt>
    <dgm:pt modelId="{0D8D7DA2-B51D-4CE8-A448-1585B648F8D9}" type="parTrans" cxnId="{4ED7E82F-C478-4186-A120-245AA24AA7A6}">
      <dgm:prSet/>
      <dgm:spPr/>
    </dgm:pt>
    <dgm:pt modelId="{16A9DA55-AE74-492B-B9F6-585DCEA0CA9C}" type="sibTrans" cxnId="{4ED7E82F-C478-4186-A120-245AA24AA7A6}">
      <dgm:prSet/>
      <dgm:spPr/>
    </dgm:pt>
    <dgm:pt modelId="{0BCCC259-748F-486D-873A-AA60CABAC864}">
      <dgm:prSet phldr="0"/>
      <dgm:spPr/>
      <dgm:t>
        <a:bodyPr/>
        <a:lstStyle/>
        <a:p>
          <a:pPr algn="l"/>
          <a:r>
            <a:rPr lang="en-GB" b="1">
              <a:latin typeface="Calibri"/>
              <a:ea typeface="Calibri"/>
              <a:cs typeface="Calibri"/>
            </a:rPr>
            <a:t>Ride Booking (ID: 393)</a:t>
          </a:r>
          <a:br>
            <a:rPr lang="en-GB">
              <a:latin typeface="Calibri"/>
              <a:ea typeface="Calibri"/>
              <a:cs typeface="Calibri"/>
            </a:rPr>
          </a:br>
          <a:r>
            <a:rPr lang="en-GB">
              <a:latin typeface="Calibri"/>
              <a:ea typeface="Calibri"/>
              <a:cs typeface="Calibri"/>
            </a:rPr>
            <a:t>Facilitates users in scheduling rides by providing options for real-time bookings, preferred routes, and estimated time of arrival.</a:t>
          </a:r>
        </a:p>
      </dgm:t>
    </dgm:pt>
    <dgm:pt modelId="{7DDFAD81-055E-43DE-A037-A9C5000D106B}" type="parTrans" cxnId="{67AA929F-5AD6-4787-9AC4-E69CFFE1CE6E}">
      <dgm:prSet/>
      <dgm:spPr/>
    </dgm:pt>
    <dgm:pt modelId="{0F221438-F1BF-42BF-82AA-B577505CA434}" type="sibTrans" cxnId="{67AA929F-5AD6-4787-9AC4-E69CFFE1CE6E}">
      <dgm:prSet/>
      <dgm:spPr/>
    </dgm:pt>
    <dgm:pt modelId="{5E3678C1-F0A7-4AFD-832B-301A30700636}">
      <dgm:prSet phldr="0"/>
      <dgm:spPr/>
      <dgm:t>
        <a:bodyPr/>
        <a:lstStyle/>
        <a:p>
          <a:pPr algn="l"/>
          <a:r>
            <a:rPr lang="en-GB" b="1">
              <a:latin typeface="Calibri"/>
              <a:ea typeface="Calibri"/>
              <a:cs typeface="Calibri"/>
            </a:rPr>
            <a:t>Payment System (ID: 392)</a:t>
          </a:r>
          <a:br>
            <a:rPr lang="en-GB">
              <a:latin typeface="Calibri"/>
              <a:ea typeface="Calibri"/>
              <a:cs typeface="Calibri"/>
            </a:rPr>
          </a:br>
          <a:r>
            <a:rPr lang="en-GB">
              <a:latin typeface="Calibri"/>
              <a:ea typeface="Calibri"/>
              <a:cs typeface="Calibri"/>
            </a:rPr>
            <a:t>Manages secure transactions by supporting various payment methods, including credit/debit cards, digital wallets, and in-app payment processing.</a:t>
          </a:r>
        </a:p>
      </dgm:t>
    </dgm:pt>
    <dgm:pt modelId="{27A5903E-9B5D-46A3-A7E2-B3CE326905E2}" type="parTrans" cxnId="{9F8B731B-04EE-4127-8D73-9F169D67544C}">
      <dgm:prSet/>
      <dgm:spPr/>
    </dgm:pt>
    <dgm:pt modelId="{88D22D7C-0A63-403B-B200-4D90EEFB1C83}" type="sibTrans" cxnId="{9F8B731B-04EE-4127-8D73-9F169D67544C}">
      <dgm:prSet/>
      <dgm:spPr/>
    </dgm:pt>
    <dgm:pt modelId="{6C3DBC9F-7DE1-4175-BD56-E17A1894DFA3}">
      <dgm:prSet phldr="0"/>
      <dgm:spPr/>
      <dgm:t>
        <a:bodyPr/>
        <a:lstStyle/>
        <a:p>
          <a:pPr algn="l"/>
          <a:r>
            <a:rPr lang="en-GB" b="1">
              <a:latin typeface="Calibri"/>
              <a:ea typeface="Calibri"/>
              <a:cs typeface="Calibri"/>
            </a:rPr>
            <a:t>Notification System (ID: 375)</a:t>
          </a:r>
          <a:br>
            <a:rPr lang="en-GB">
              <a:latin typeface="Calibri"/>
              <a:ea typeface="Calibri"/>
              <a:cs typeface="Calibri"/>
            </a:rPr>
          </a:br>
          <a:r>
            <a:rPr lang="en-GB">
              <a:latin typeface="Calibri"/>
              <a:ea typeface="Calibri"/>
              <a:cs typeface="Calibri"/>
            </a:rPr>
            <a:t>Sends timely notifications to users and drivers, including ride confirmations, updates, reminders, and alerts for critical events.</a:t>
          </a:r>
        </a:p>
      </dgm:t>
    </dgm:pt>
    <dgm:pt modelId="{380AB839-4697-4D9B-A794-5B9DD72DD65F}" type="parTrans" cxnId="{DACD6FBD-6A77-49BE-A3AF-CB9EF81E04C8}">
      <dgm:prSet/>
      <dgm:spPr/>
    </dgm:pt>
    <dgm:pt modelId="{94600D34-FE48-4E12-9F52-8E7A19C8D050}" type="sibTrans" cxnId="{DACD6FBD-6A77-49BE-A3AF-CB9EF81E04C8}">
      <dgm:prSet/>
      <dgm:spPr/>
    </dgm:pt>
    <dgm:pt modelId="{B23F346D-DDBD-4C56-82CE-CB61C2CA6228}">
      <dgm:prSet phldr="0"/>
      <dgm:spPr/>
      <dgm:t>
        <a:bodyPr/>
        <a:lstStyle/>
        <a:p>
          <a:pPr algn="l"/>
          <a:r>
            <a:rPr lang="en-GB" b="1">
              <a:latin typeface="Calibri"/>
              <a:ea typeface="Calibri"/>
              <a:cs typeface="Calibri"/>
            </a:rPr>
            <a:t>Marketing Campaigns (ID: 378</a:t>
          </a:r>
          <a:r>
            <a:rPr lang="en-GB">
              <a:latin typeface="Calibri"/>
              <a:ea typeface="Calibri"/>
              <a:cs typeface="Calibri"/>
            </a:rPr>
            <a:t>)</a:t>
          </a:r>
          <a:br>
            <a:rPr lang="en-GB">
              <a:latin typeface="Calibri"/>
              <a:ea typeface="Calibri"/>
              <a:cs typeface="Calibri"/>
            </a:rPr>
          </a:br>
          <a:r>
            <a:rPr lang="en-GB">
              <a:latin typeface="Calibri"/>
              <a:ea typeface="Calibri"/>
              <a:cs typeface="Calibri"/>
            </a:rPr>
            <a:t>Supports the design, execution, and monitoring of promotional activities to increase user engagement and attract new customers.</a:t>
          </a:r>
        </a:p>
      </dgm:t>
    </dgm:pt>
    <dgm:pt modelId="{F5927788-8315-4E31-B3F6-D53612AC4F93}" type="parTrans" cxnId="{B72B8281-280E-4EBE-8B11-DF2290B0C417}">
      <dgm:prSet/>
      <dgm:spPr/>
    </dgm:pt>
    <dgm:pt modelId="{3F47412C-E3F0-4FEC-9089-CA59ADE38DA8}" type="sibTrans" cxnId="{B72B8281-280E-4EBE-8B11-DF2290B0C417}">
      <dgm:prSet/>
      <dgm:spPr/>
    </dgm:pt>
    <dgm:pt modelId="{949D21DF-AB20-4DAE-AE5F-FB8A0ACD636F}">
      <dgm:prSet phldr="0"/>
      <dgm:spPr/>
      <dgm:t>
        <a:bodyPr/>
        <a:lstStyle/>
        <a:p>
          <a:pPr algn="l"/>
          <a:r>
            <a:rPr lang="en-GB" b="1">
              <a:latin typeface="Calibri"/>
              <a:ea typeface="Calibri"/>
              <a:cs typeface="Calibri"/>
            </a:rPr>
            <a:t>Frequent Rider Program (ID: 376)</a:t>
          </a:r>
          <a:br>
            <a:rPr lang="en-GB">
              <a:latin typeface="Calibri"/>
              <a:ea typeface="Calibri"/>
              <a:cs typeface="Calibri"/>
            </a:rPr>
          </a:br>
          <a:r>
            <a:rPr lang="en-GB">
              <a:latin typeface="Calibri"/>
              <a:ea typeface="Calibri"/>
              <a:cs typeface="Calibri"/>
            </a:rPr>
            <a:t>Implements loyalty rewards for frequent users, offering discounts, points, and exclusive benefits to enhance customer retention.</a:t>
          </a:r>
        </a:p>
      </dgm:t>
    </dgm:pt>
    <dgm:pt modelId="{A215571B-94B1-4D07-BEC7-8D7730513E81}" type="parTrans" cxnId="{1789C68A-BD46-4011-9048-474ABE7AF3F3}">
      <dgm:prSet/>
      <dgm:spPr/>
    </dgm:pt>
    <dgm:pt modelId="{E589C24B-B074-41F5-ADA2-80E2ECB00960}" type="sibTrans" cxnId="{1789C68A-BD46-4011-9048-474ABE7AF3F3}">
      <dgm:prSet/>
      <dgm:spPr/>
    </dgm:pt>
    <dgm:pt modelId="{E80EC26A-7C1E-4522-8B20-69D4EAC113C4}">
      <dgm:prSet phldr="0"/>
      <dgm:spPr/>
      <dgm:t>
        <a:bodyPr/>
        <a:lstStyle/>
        <a:p>
          <a:pPr algn="l"/>
          <a:r>
            <a:rPr lang="en-GB" b="1">
              <a:latin typeface="Calibri"/>
              <a:ea typeface="Calibri"/>
              <a:cs typeface="Calibri"/>
            </a:rPr>
            <a:t>Driver Management (ID: 377</a:t>
          </a:r>
          <a:r>
            <a:rPr lang="en-GB">
              <a:latin typeface="Calibri"/>
              <a:ea typeface="Calibri"/>
              <a:cs typeface="Calibri"/>
            </a:rPr>
            <a:t>)</a:t>
          </a:r>
          <a:br>
            <a:rPr lang="en-GB">
              <a:latin typeface="Calibri"/>
              <a:ea typeface="Calibri"/>
              <a:cs typeface="Calibri"/>
            </a:rPr>
          </a:br>
          <a:r>
            <a:rPr lang="en-GB">
              <a:latin typeface="Calibri"/>
              <a:ea typeface="Calibri"/>
              <a:cs typeface="Calibri"/>
            </a:rPr>
            <a:t>Provides functionalities for driver onboarding, profile management, performance tracking, and allocation of ride requests.</a:t>
          </a:r>
        </a:p>
      </dgm:t>
    </dgm:pt>
    <dgm:pt modelId="{D7B9F1FD-8AE5-4279-BCBF-A8B1EEF38E78}" type="parTrans" cxnId="{42060911-D1FA-4A91-92E6-90A7A6D861E5}">
      <dgm:prSet/>
      <dgm:spPr/>
    </dgm:pt>
    <dgm:pt modelId="{DEB87C81-B1A7-4790-9A77-661EACCC6519}" type="sibTrans" cxnId="{42060911-D1FA-4A91-92E6-90A7A6D861E5}">
      <dgm:prSet/>
      <dgm:spPr/>
    </dgm:pt>
    <dgm:pt modelId="{3C37D9B3-EA30-4951-B834-43C0B32EB88B}">
      <dgm:prSet phldr="0"/>
      <dgm:spPr/>
      <dgm:t>
        <a:bodyPr/>
        <a:lstStyle/>
        <a:p>
          <a:pPr algn="l"/>
          <a:r>
            <a:rPr lang="en-GB" b="1">
              <a:latin typeface="Calibri"/>
              <a:ea typeface="Calibri"/>
              <a:cs typeface="Calibri"/>
            </a:rPr>
            <a:t>Admin Portal (ID: 379)</a:t>
          </a:r>
          <a:br>
            <a:rPr lang="en-GB">
              <a:latin typeface="Calibri"/>
              <a:ea typeface="Calibri"/>
              <a:cs typeface="Calibri"/>
            </a:rPr>
          </a:br>
          <a:r>
            <a:rPr lang="en-GB">
              <a:latin typeface="Calibri"/>
              <a:ea typeface="Calibri"/>
              <a:cs typeface="Calibri"/>
            </a:rPr>
            <a:t>Acts as a centralized dashboard for administrators to manage system configurations, monitor activities, and generate reports.</a:t>
          </a:r>
          <a:endParaRPr lang="en-US">
            <a:latin typeface="Calibri"/>
            <a:ea typeface="Calibri"/>
            <a:cs typeface="Calibri"/>
          </a:endParaRPr>
        </a:p>
      </dgm:t>
    </dgm:pt>
    <dgm:pt modelId="{084AD917-3229-4342-B54F-9E4AEDF2AC07}" type="parTrans" cxnId="{F1553118-908C-4C15-A479-963DD1A2F04B}">
      <dgm:prSet/>
      <dgm:spPr/>
    </dgm:pt>
    <dgm:pt modelId="{AAE89620-F854-40AC-B7F2-1DF4F2462B88}" type="sibTrans" cxnId="{F1553118-908C-4C15-A479-963DD1A2F04B}">
      <dgm:prSet/>
      <dgm:spPr/>
    </dgm:pt>
    <dgm:pt modelId="{8F5CA4DB-F804-4771-884B-DCE5791A3460}" type="pres">
      <dgm:prSet presAssocID="{45198D47-E015-4BC9-BBDA-0279B0218493}" presName="diagram" presStyleCnt="0">
        <dgm:presLayoutVars>
          <dgm:dir/>
          <dgm:resizeHandles val="exact"/>
        </dgm:presLayoutVars>
      </dgm:prSet>
      <dgm:spPr/>
    </dgm:pt>
    <dgm:pt modelId="{B18EC812-7E07-416E-AC95-CBD6AABB29F0}" type="pres">
      <dgm:prSet presAssocID="{4A513B6A-009F-49C4-BBED-5504D7A39E1C}" presName="node" presStyleLbl="node1" presStyleIdx="0" presStyleCnt="8">
        <dgm:presLayoutVars>
          <dgm:bulletEnabled val="1"/>
        </dgm:presLayoutVars>
      </dgm:prSet>
      <dgm:spPr/>
    </dgm:pt>
    <dgm:pt modelId="{A466CC18-5901-4232-BBE7-E28C05D76D1C}" type="pres">
      <dgm:prSet presAssocID="{16A9DA55-AE74-492B-B9F6-585DCEA0CA9C}" presName="sibTrans" presStyleCnt="0"/>
      <dgm:spPr/>
    </dgm:pt>
    <dgm:pt modelId="{E906EC47-ACCD-4E6D-A074-FF907D7F888F}" type="pres">
      <dgm:prSet presAssocID="{0BCCC259-748F-486D-873A-AA60CABAC864}" presName="node" presStyleLbl="node1" presStyleIdx="1" presStyleCnt="8">
        <dgm:presLayoutVars>
          <dgm:bulletEnabled val="1"/>
        </dgm:presLayoutVars>
      </dgm:prSet>
      <dgm:spPr/>
    </dgm:pt>
    <dgm:pt modelId="{1A786C09-C78D-4D9E-8391-856DF9F974B4}" type="pres">
      <dgm:prSet presAssocID="{0F221438-F1BF-42BF-82AA-B577505CA434}" presName="sibTrans" presStyleCnt="0"/>
      <dgm:spPr/>
    </dgm:pt>
    <dgm:pt modelId="{CE9CEEC9-DDD1-459C-98FC-FBF87D20D8F7}" type="pres">
      <dgm:prSet presAssocID="{5E3678C1-F0A7-4AFD-832B-301A30700636}" presName="node" presStyleLbl="node1" presStyleIdx="2" presStyleCnt="8">
        <dgm:presLayoutVars>
          <dgm:bulletEnabled val="1"/>
        </dgm:presLayoutVars>
      </dgm:prSet>
      <dgm:spPr/>
    </dgm:pt>
    <dgm:pt modelId="{CC51EB4B-02C2-4F15-B88D-522DC13D362E}" type="pres">
      <dgm:prSet presAssocID="{88D22D7C-0A63-403B-B200-4D90EEFB1C83}" presName="sibTrans" presStyleCnt="0"/>
      <dgm:spPr/>
    </dgm:pt>
    <dgm:pt modelId="{E78CC6E3-2097-41D6-8320-A9F044D1A385}" type="pres">
      <dgm:prSet presAssocID="{6C3DBC9F-7DE1-4175-BD56-E17A1894DFA3}" presName="node" presStyleLbl="node1" presStyleIdx="3" presStyleCnt="8">
        <dgm:presLayoutVars>
          <dgm:bulletEnabled val="1"/>
        </dgm:presLayoutVars>
      </dgm:prSet>
      <dgm:spPr/>
    </dgm:pt>
    <dgm:pt modelId="{5484CB71-F9CF-4348-A71C-AAE791119541}" type="pres">
      <dgm:prSet presAssocID="{94600D34-FE48-4E12-9F52-8E7A19C8D050}" presName="sibTrans" presStyleCnt="0"/>
      <dgm:spPr/>
    </dgm:pt>
    <dgm:pt modelId="{3B7D6059-E223-41C5-9FFA-126F0841D5B0}" type="pres">
      <dgm:prSet presAssocID="{B23F346D-DDBD-4C56-82CE-CB61C2CA6228}" presName="node" presStyleLbl="node1" presStyleIdx="4" presStyleCnt="8">
        <dgm:presLayoutVars>
          <dgm:bulletEnabled val="1"/>
        </dgm:presLayoutVars>
      </dgm:prSet>
      <dgm:spPr/>
    </dgm:pt>
    <dgm:pt modelId="{F270AC8A-1B2F-46BF-88F6-E7CB4E777016}" type="pres">
      <dgm:prSet presAssocID="{3F47412C-E3F0-4FEC-9089-CA59ADE38DA8}" presName="sibTrans" presStyleCnt="0"/>
      <dgm:spPr/>
    </dgm:pt>
    <dgm:pt modelId="{7688B0CE-1B48-45BD-8670-F3799B193DA7}" type="pres">
      <dgm:prSet presAssocID="{949D21DF-AB20-4DAE-AE5F-FB8A0ACD636F}" presName="node" presStyleLbl="node1" presStyleIdx="5" presStyleCnt="8">
        <dgm:presLayoutVars>
          <dgm:bulletEnabled val="1"/>
        </dgm:presLayoutVars>
      </dgm:prSet>
      <dgm:spPr/>
    </dgm:pt>
    <dgm:pt modelId="{273B5CE2-3B7E-4436-9EB6-7DEC5CB162F2}" type="pres">
      <dgm:prSet presAssocID="{E589C24B-B074-41F5-ADA2-80E2ECB00960}" presName="sibTrans" presStyleCnt="0"/>
      <dgm:spPr/>
    </dgm:pt>
    <dgm:pt modelId="{E204C608-8598-4989-BFF6-63E3C2C56B7C}" type="pres">
      <dgm:prSet presAssocID="{E80EC26A-7C1E-4522-8B20-69D4EAC113C4}" presName="node" presStyleLbl="node1" presStyleIdx="6" presStyleCnt="8">
        <dgm:presLayoutVars>
          <dgm:bulletEnabled val="1"/>
        </dgm:presLayoutVars>
      </dgm:prSet>
      <dgm:spPr/>
    </dgm:pt>
    <dgm:pt modelId="{AD6E99A0-A91E-4FC5-82C8-248CD090FDD8}" type="pres">
      <dgm:prSet presAssocID="{DEB87C81-B1A7-4790-9A77-661EACCC6519}" presName="sibTrans" presStyleCnt="0"/>
      <dgm:spPr/>
    </dgm:pt>
    <dgm:pt modelId="{EF55FBF2-0FCF-4D70-B71A-E91C6FC0B167}" type="pres">
      <dgm:prSet presAssocID="{3C37D9B3-EA30-4951-B834-43C0B32EB88B}" presName="node" presStyleLbl="node1" presStyleIdx="7" presStyleCnt="8">
        <dgm:presLayoutVars>
          <dgm:bulletEnabled val="1"/>
        </dgm:presLayoutVars>
      </dgm:prSet>
      <dgm:spPr/>
    </dgm:pt>
  </dgm:ptLst>
  <dgm:cxnLst>
    <dgm:cxn modelId="{42060911-D1FA-4A91-92E6-90A7A6D861E5}" srcId="{45198D47-E015-4BC9-BBDA-0279B0218493}" destId="{E80EC26A-7C1E-4522-8B20-69D4EAC113C4}" srcOrd="6" destOrd="0" parTransId="{D7B9F1FD-8AE5-4279-BCBF-A8B1EEF38E78}" sibTransId="{DEB87C81-B1A7-4790-9A77-661EACCC6519}"/>
    <dgm:cxn modelId="{B1ACEF13-6197-478A-8C63-96DF271EE530}" type="presOf" srcId="{4A513B6A-009F-49C4-BBED-5504D7A39E1C}" destId="{B18EC812-7E07-416E-AC95-CBD6AABB29F0}" srcOrd="0" destOrd="0" presId="urn:microsoft.com/office/officeart/2005/8/layout/default"/>
    <dgm:cxn modelId="{F1553118-908C-4C15-A479-963DD1A2F04B}" srcId="{45198D47-E015-4BC9-BBDA-0279B0218493}" destId="{3C37D9B3-EA30-4951-B834-43C0B32EB88B}" srcOrd="7" destOrd="0" parTransId="{084AD917-3229-4342-B54F-9E4AEDF2AC07}" sibTransId="{AAE89620-F854-40AC-B7F2-1DF4F2462B88}"/>
    <dgm:cxn modelId="{BCEA1219-B8B8-41AC-B5E6-D86729F2A6A8}" type="presOf" srcId="{E80EC26A-7C1E-4522-8B20-69D4EAC113C4}" destId="{E204C608-8598-4989-BFF6-63E3C2C56B7C}" srcOrd="0" destOrd="0" presId="urn:microsoft.com/office/officeart/2005/8/layout/default"/>
    <dgm:cxn modelId="{9F8B731B-04EE-4127-8D73-9F169D67544C}" srcId="{45198D47-E015-4BC9-BBDA-0279B0218493}" destId="{5E3678C1-F0A7-4AFD-832B-301A30700636}" srcOrd="2" destOrd="0" parTransId="{27A5903E-9B5D-46A3-A7E2-B3CE326905E2}" sibTransId="{88D22D7C-0A63-403B-B200-4D90EEFB1C83}"/>
    <dgm:cxn modelId="{4ED7E82F-C478-4186-A120-245AA24AA7A6}" srcId="{45198D47-E015-4BC9-BBDA-0279B0218493}" destId="{4A513B6A-009F-49C4-BBED-5504D7A39E1C}" srcOrd="0" destOrd="0" parTransId="{0D8D7DA2-B51D-4CE8-A448-1585B648F8D9}" sibTransId="{16A9DA55-AE74-492B-B9F6-585DCEA0CA9C}"/>
    <dgm:cxn modelId="{C16E6F3F-2671-4C62-9B85-96C42E6DDBA3}" type="presOf" srcId="{0BCCC259-748F-486D-873A-AA60CABAC864}" destId="{E906EC47-ACCD-4E6D-A074-FF907D7F888F}" srcOrd="0" destOrd="0" presId="urn:microsoft.com/office/officeart/2005/8/layout/default"/>
    <dgm:cxn modelId="{8BCD055E-9262-4BCC-A075-8ECD127C648E}" type="presOf" srcId="{6C3DBC9F-7DE1-4175-BD56-E17A1894DFA3}" destId="{E78CC6E3-2097-41D6-8320-A9F044D1A385}" srcOrd="0" destOrd="0" presId="urn:microsoft.com/office/officeart/2005/8/layout/default"/>
    <dgm:cxn modelId="{B72B8281-280E-4EBE-8B11-DF2290B0C417}" srcId="{45198D47-E015-4BC9-BBDA-0279B0218493}" destId="{B23F346D-DDBD-4C56-82CE-CB61C2CA6228}" srcOrd="4" destOrd="0" parTransId="{F5927788-8315-4E31-B3F6-D53612AC4F93}" sibTransId="{3F47412C-E3F0-4FEC-9089-CA59ADE38DA8}"/>
    <dgm:cxn modelId="{1B13D181-EFBB-47EE-AAE4-A97A8FC6A589}" type="presOf" srcId="{45198D47-E015-4BC9-BBDA-0279B0218493}" destId="{8F5CA4DB-F804-4771-884B-DCE5791A3460}" srcOrd="0" destOrd="0" presId="urn:microsoft.com/office/officeart/2005/8/layout/default"/>
    <dgm:cxn modelId="{1789C68A-BD46-4011-9048-474ABE7AF3F3}" srcId="{45198D47-E015-4BC9-BBDA-0279B0218493}" destId="{949D21DF-AB20-4DAE-AE5F-FB8A0ACD636F}" srcOrd="5" destOrd="0" parTransId="{A215571B-94B1-4D07-BEC7-8D7730513E81}" sibTransId="{E589C24B-B074-41F5-ADA2-80E2ECB00960}"/>
    <dgm:cxn modelId="{E1019D92-2750-4CBC-A8F1-BB472D260B6D}" type="presOf" srcId="{949D21DF-AB20-4DAE-AE5F-FB8A0ACD636F}" destId="{7688B0CE-1B48-45BD-8670-F3799B193DA7}" srcOrd="0" destOrd="0" presId="urn:microsoft.com/office/officeart/2005/8/layout/default"/>
    <dgm:cxn modelId="{67AA929F-5AD6-4787-9AC4-E69CFFE1CE6E}" srcId="{45198D47-E015-4BC9-BBDA-0279B0218493}" destId="{0BCCC259-748F-486D-873A-AA60CABAC864}" srcOrd="1" destOrd="0" parTransId="{7DDFAD81-055E-43DE-A037-A9C5000D106B}" sibTransId="{0F221438-F1BF-42BF-82AA-B577505CA434}"/>
    <dgm:cxn modelId="{09BEDCA6-0361-4931-BD49-DA780B75A983}" type="presOf" srcId="{3C37D9B3-EA30-4951-B834-43C0B32EB88B}" destId="{EF55FBF2-0FCF-4D70-B71A-E91C6FC0B167}" srcOrd="0" destOrd="0" presId="urn:microsoft.com/office/officeart/2005/8/layout/default"/>
    <dgm:cxn modelId="{DACD6FBD-6A77-49BE-A3AF-CB9EF81E04C8}" srcId="{45198D47-E015-4BC9-BBDA-0279B0218493}" destId="{6C3DBC9F-7DE1-4175-BD56-E17A1894DFA3}" srcOrd="3" destOrd="0" parTransId="{380AB839-4697-4D9B-A794-5B9DD72DD65F}" sibTransId="{94600D34-FE48-4E12-9F52-8E7A19C8D050}"/>
    <dgm:cxn modelId="{B53E1FE3-B332-456B-A527-151C0093A0A2}" type="presOf" srcId="{B23F346D-DDBD-4C56-82CE-CB61C2CA6228}" destId="{3B7D6059-E223-41C5-9FFA-126F0841D5B0}" srcOrd="0" destOrd="0" presId="urn:microsoft.com/office/officeart/2005/8/layout/default"/>
    <dgm:cxn modelId="{8E935EF8-9D0A-4234-AB35-1A564BA1B651}" type="presOf" srcId="{5E3678C1-F0A7-4AFD-832B-301A30700636}" destId="{CE9CEEC9-DDD1-459C-98FC-FBF87D20D8F7}" srcOrd="0" destOrd="0" presId="urn:microsoft.com/office/officeart/2005/8/layout/default"/>
    <dgm:cxn modelId="{B6713117-371D-4B15-9967-F6219B69F4BC}" type="presParOf" srcId="{8F5CA4DB-F804-4771-884B-DCE5791A3460}" destId="{B18EC812-7E07-416E-AC95-CBD6AABB29F0}" srcOrd="0" destOrd="0" presId="urn:microsoft.com/office/officeart/2005/8/layout/default"/>
    <dgm:cxn modelId="{39DF292C-0DC0-4472-993F-70765684BDEE}" type="presParOf" srcId="{8F5CA4DB-F804-4771-884B-DCE5791A3460}" destId="{A466CC18-5901-4232-BBE7-E28C05D76D1C}" srcOrd="1" destOrd="0" presId="urn:microsoft.com/office/officeart/2005/8/layout/default"/>
    <dgm:cxn modelId="{D5772648-A9DB-4CA9-A5E6-BA1080B25904}" type="presParOf" srcId="{8F5CA4DB-F804-4771-884B-DCE5791A3460}" destId="{E906EC47-ACCD-4E6D-A074-FF907D7F888F}" srcOrd="2" destOrd="0" presId="urn:microsoft.com/office/officeart/2005/8/layout/default"/>
    <dgm:cxn modelId="{CC3AC6A7-2DFE-40D2-B272-053AE3A6C004}" type="presParOf" srcId="{8F5CA4DB-F804-4771-884B-DCE5791A3460}" destId="{1A786C09-C78D-4D9E-8391-856DF9F974B4}" srcOrd="3" destOrd="0" presId="urn:microsoft.com/office/officeart/2005/8/layout/default"/>
    <dgm:cxn modelId="{2A371200-CF5D-4570-870F-E070862B77AE}" type="presParOf" srcId="{8F5CA4DB-F804-4771-884B-DCE5791A3460}" destId="{CE9CEEC9-DDD1-459C-98FC-FBF87D20D8F7}" srcOrd="4" destOrd="0" presId="urn:microsoft.com/office/officeart/2005/8/layout/default"/>
    <dgm:cxn modelId="{5FABF8FC-B86E-45B9-9015-2EAEF5EC3C1E}" type="presParOf" srcId="{8F5CA4DB-F804-4771-884B-DCE5791A3460}" destId="{CC51EB4B-02C2-4F15-B88D-522DC13D362E}" srcOrd="5" destOrd="0" presId="urn:microsoft.com/office/officeart/2005/8/layout/default"/>
    <dgm:cxn modelId="{37970593-0C6A-4208-AEB7-57C49EBF25E3}" type="presParOf" srcId="{8F5CA4DB-F804-4771-884B-DCE5791A3460}" destId="{E78CC6E3-2097-41D6-8320-A9F044D1A385}" srcOrd="6" destOrd="0" presId="urn:microsoft.com/office/officeart/2005/8/layout/default"/>
    <dgm:cxn modelId="{BCCCEF0C-D0DF-465E-8750-B9D216349873}" type="presParOf" srcId="{8F5CA4DB-F804-4771-884B-DCE5791A3460}" destId="{5484CB71-F9CF-4348-A71C-AAE791119541}" srcOrd="7" destOrd="0" presId="urn:microsoft.com/office/officeart/2005/8/layout/default"/>
    <dgm:cxn modelId="{AED3371E-6B4C-456E-948C-D4F1FDBC4906}" type="presParOf" srcId="{8F5CA4DB-F804-4771-884B-DCE5791A3460}" destId="{3B7D6059-E223-41C5-9FFA-126F0841D5B0}" srcOrd="8" destOrd="0" presId="urn:microsoft.com/office/officeart/2005/8/layout/default"/>
    <dgm:cxn modelId="{3ACDE093-ABD2-4C21-8F1D-D61FBFD279F3}" type="presParOf" srcId="{8F5CA4DB-F804-4771-884B-DCE5791A3460}" destId="{F270AC8A-1B2F-46BF-88F6-E7CB4E777016}" srcOrd="9" destOrd="0" presId="urn:microsoft.com/office/officeart/2005/8/layout/default"/>
    <dgm:cxn modelId="{5A3AAD3A-0F14-4976-9C3A-D90767F31EE9}" type="presParOf" srcId="{8F5CA4DB-F804-4771-884B-DCE5791A3460}" destId="{7688B0CE-1B48-45BD-8670-F3799B193DA7}" srcOrd="10" destOrd="0" presId="urn:microsoft.com/office/officeart/2005/8/layout/default"/>
    <dgm:cxn modelId="{9D9B817D-ECD1-4DB3-B344-02D5F62ED9F4}" type="presParOf" srcId="{8F5CA4DB-F804-4771-884B-DCE5791A3460}" destId="{273B5CE2-3B7E-4436-9EB6-7DEC5CB162F2}" srcOrd="11" destOrd="0" presId="urn:microsoft.com/office/officeart/2005/8/layout/default"/>
    <dgm:cxn modelId="{D6FDD088-F562-4A5D-971F-16D711E77C43}" type="presParOf" srcId="{8F5CA4DB-F804-4771-884B-DCE5791A3460}" destId="{E204C608-8598-4989-BFF6-63E3C2C56B7C}" srcOrd="12" destOrd="0" presId="urn:microsoft.com/office/officeart/2005/8/layout/default"/>
    <dgm:cxn modelId="{3D14C128-25C6-48A9-8648-EF8F79EA88D7}" type="presParOf" srcId="{8F5CA4DB-F804-4771-884B-DCE5791A3460}" destId="{AD6E99A0-A91E-4FC5-82C8-248CD090FDD8}" srcOrd="13" destOrd="0" presId="urn:microsoft.com/office/officeart/2005/8/layout/default"/>
    <dgm:cxn modelId="{DCF14B8A-FEF2-421A-A134-803A477266D0}" type="presParOf" srcId="{8F5CA4DB-F804-4771-884B-DCE5791A3460}" destId="{EF55FBF2-0FCF-4D70-B71A-E91C6FC0B167}" srcOrd="1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8EC812-7E07-416E-AC95-CBD6AABB29F0}">
      <dsp:nvSpPr>
        <dsp:cNvPr id="0" name=""/>
        <dsp:cNvSpPr/>
      </dsp:nvSpPr>
      <dsp:spPr>
        <a:xfrm>
          <a:off x="2987" y="719981"/>
          <a:ext cx="2369807" cy="142188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GB" sz="1300" b="1" kern="1200">
              <a:latin typeface="Calibri"/>
              <a:ea typeface="Calibri"/>
              <a:cs typeface="Calibri"/>
            </a:rPr>
            <a:t>User Management (ID: 380)</a:t>
          </a:r>
          <a:br>
            <a:rPr lang="en-GB" sz="1300" b="1" kern="1200">
              <a:latin typeface="Calibri"/>
              <a:ea typeface="Calibri"/>
              <a:cs typeface="Calibri"/>
            </a:rPr>
          </a:br>
          <a:r>
            <a:rPr lang="en-GB" sz="1300" kern="1200">
              <a:latin typeface="Calibri"/>
              <a:ea typeface="Calibri"/>
              <a:cs typeface="Calibri"/>
            </a:rPr>
            <a:t>Handles user registration, login, profile management, and role-based access control to ensure secure and efficient user interactions.</a:t>
          </a:r>
          <a:endParaRPr lang="en-US" sz="1300" kern="1200">
            <a:latin typeface="Calibri"/>
            <a:ea typeface="Calibri"/>
            <a:cs typeface="Calibri"/>
          </a:endParaRPr>
        </a:p>
      </dsp:txBody>
      <dsp:txXfrm>
        <a:off x="2987" y="719981"/>
        <a:ext cx="2369807" cy="1421884"/>
      </dsp:txXfrm>
    </dsp:sp>
    <dsp:sp modelId="{E906EC47-ACCD-4E6D-A074-FF907D7F888F}">
      <dsp:nvSpPr>
        <dsp:cNvPr id="0" name=""/>
        <dsp:cNvSpPr/>
      </dsp:nvSpPr>
      <dsp:spPr>
        <a:xfrm>
          <a:off x="2609775" y="719981"/>
          <a:ext cx="2369807" cy="142188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Ride Booking (ID: 393)</a:t>
          </a:r>
          <a:br>
            <a:rPr lang="en-GB" sz="1300" kern="1200">
              <a:latin typeface="Calibri"/>
              <a:ea typeface="Calibri"/>
              <a:cs typeface="Calibri"/>
            </a:rPr>
          </a:br>
          <a:r>
            <a:rPr lang="en-GB" sz="1300" kern="1200">
              <a:latin typeface="Calibri"/>
              <a:ea typeface="Calibri"/>
              <a:cs typeface="Calibri"/>
            </a:rPr>
            <a:t>Facilitates users in scheduling rides by providing options for real-time bookings, preferred routes, and estimated time of arrival.</a:t>
          </a:r>
        </a:p>
      </dsp:txBody>
      <dsp:txXfrm>
        <a:off x="2609775" y="719981"/>
        <a:ext cx="2369807" cy="1421884"/>
      </dsp:txXfrm>
    </dsp:sp>
    <dsp:sp modelId="{CE9CEEC9-DDD1-459C-98FC-FBF87D20D8F7}">
      <dsp:nvSpPr>
        <dsp:cNvPr id="0" name=""/>
        <dsp:cNvSpPr/>
      </dsp:nvSpPr>
      <dsp:spPr>
        <a:xfrm>
          <a:off x="5216563" y="719981"/>
          <a:ext cx="2369807" cy="142188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Payment System (ID: 392)</a:t>
          </a:r>
          <a:br>
            <a:rPr lang="en-GB" sz="1300" kern="1200">
              <a:latin typeface="Calibri"/>
              <a:ea typeface="Calibri"/>
              <a:cs typeface="Calibri"/>
            </a:rPr>
          </a:br>
          <a:r>
            <a:rPr lang="en-GB" sz="1300" kern="1200">
              <a:latin typeface="Calibri"/>
              <a:ea typeface="Calibri"/>
              <a:cs typeface="Calibri"/>
            </a:rPr>
            <a:t>Manages secure transactions by supporting various payment methods, including credit/debit cards, digital wallets, and in-app payment processing.</a:t>
          </a:r>
        </a:p>
      </dsp:txBody>
      <dsp:txXfrm>
        <a:off x="5216563" y="719981"/>
        <a:ext cx="2369807" cy="1421884"/>
      </dsp:txXfrm>
    </dsp:sp>
    <dsp:sp modelId="{E78CC6E3-2097-41D6-8320-A9F044D1A385}">
      <dsp:nvSpPr>
        <dsp:cNvPr id="0" name=""/>
        <dsp:cNvSpPr/>
      </dsp:nvSpPr>
      <dsp:spPr>
        <a:xfrm>
          <a:off x="7823351" y="719981"/>
          <a:ext cx="2369807" cy="142188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Notification System (ID: 375)</a:t>
          </a:r>
          <a:br>
            <a:rPr lang="en-GB" sz="1300" kern="1200">
              <a:latin typeface="Calibri"/>
              <a:ea typeface="Calibri"/>
              <a:cs typeface="Calibri"/>
            </a:rPr>
          </a:br>
          <a:r>
            <a:rPr lang="en-GB" sz="1300" kern="1200">
              <a:latin typeface="Calibri"/>
              <a:ea typeface="Calibri"/>
              <a:cs typeface="Calibri"/>
            </a:rPr>
            <a:t>Sends timely notifications to users and drivers, including ride confirmations, updates, reminders, and alerts for critical events.</a:t>
          </a:r>
        </a:p>
      </dsp:txBody>
      <dsp:txXfrm>
        <a:off x="7823351" y="719981"/>
        <a:ext cx="2369807" cy="1421884"/>
      </dsp:txXfrm>
    </dsp:sp>
    <dsp:sp modelId="{3B7D6059-E223-41C5-9FFA-126F0841D5B0}">
      <dsp:nvSpPr>
        <dsp:cNvPr id="0" name=""/>
        <dsp:cNvSpPr/>
      </dsp:nvSpPr>
      <dsp:spPr>
        <a:xfrm>
          <a:off x="2987" y="2378846"/>
          <a:ext cx="2369807" cy="1421884"/>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Marketing Campaigns (ID: 378</a:t>
          </a:r>
          <a:r>
            <a:rPr lang="en-GB" sz="1300" kern="1200">
              <a:latin typeface="Calibri"/>
              <a:ea typeface="Calibri"/>
              <a:cs typeface="Calibri"/>
            </a:rPr>
            <a:t>)</a:t>
          </a:r>
          <a:br>
            <a:rPr lang="en-GB" sz="1300" kern="1200">
              <a:latin typeface="Calibri"/>
              <a:ea typeface="Calibri"/>
              <a:cs typeface="Calibri"/>
            </a:rPr>
          </a:br>
          <a:r>
            <a:rPr lang="en-GB" sz="1300" kern="1200">
              <a:latin typeface="Calibri"/>
              <a:ea typeface="Calibri"/>
              <a:cs typeface="Calibri"/>
            </a:rPr>
            <a:t>Supports the design, execution, and monitoring of promotional activities to increase user engagement and attract new customers.</a:t>
          </a:r>
        </a:p>
      </dsp:txBody>
      <dsp:txXfrm>
        <a:off x="2987" y="2378846"/>
        <a:ext cx="2369807" cy="1421884"/>
      </dsp:txXfrm>
    </dsp:sp>
    <dsp:sp modelId="{7688B0CE-1B48-45BD-8670-F3799B193DA7}">
      <dsp:nvSpPr>
        <dsp:cNvPr id="0" name=""/>
        <dsp:cNvSpPr/>
      </dsp:nvSpPr>
      <dsp:spPr>
        <a:xfrm>
          <a:off x="2609775" y="2378846"/>
          <a:ext cx="2369807" cy="142188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Frequent Rider Program (ID: 376)</a:t>
          </a:r>
          <a:br>
            <a:rPr lang="en-GB" sz="1300" kern="1200">
              <a:latin typeface="Calibri"/>
              <a:ea typeface="Calibri"/>
              <a:cs typeface="Calibri"/>
            </a:rPr>
          </a:br>
          <a:r>
            <a:rPr lang="en-GB" sz="1300" kern="1200">
              <a:latin typeface="Calibri"/>
              <a:ea typeface="Calibri"/>
              <a:cs typeface="Calibri"/>
            </a:rPr>
            <a:t>Implements loyalty rewards for frequent users, offering discounts, points, and exclusive benefits to enhance customer retention.</a:t>
          </a:r>
        </a:p>
      </dsp:txBody>
      <dsp:txXfrm>
        <a:off x="2609775" y="2378846"/>
        <a:ext cx="2369807" cy="1421884"/>
      </dsp:txXfrm>
    </dsp:sp>
    <dsp:sp modelId="{E204C608-8598-4989-BFF6-63E3C2C56B7C}">
      <dsp:nvSpPr>
        <dsp:cNvPr id="0" name=""/>
        <dsp:cNvSpPr/>
      </dsp:nvSpPr>
      <dsp:spPr>
        <a:xfrm>
          <a:off x="5216563" y="2378846"/>
          <a:ext cx="2369807" cy="142188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Driver Management (ID: 377</a:t>
          </a:r>
          <a:r>
            <a:rPr lang="en-GB" sz="1300" kern="1200">
              <a:latin typeface="Calibri"/>
              <a:ea typeface="Calibri"/>
              <a:cs typeface="Calibri"/>
            </a:rPr>
            <a:t>)</a:t>
          </a:r>
          <a:br>
            <a:rPr lang="en-GB" sz="1300" kern="1200">
              <a:latin typeface="Calibri"/>
              <a:ea typeface="Calibri"/>
              <a:cs typeface="Calibri"/>
            </a:rPr>
          </a:br>
          <a:r>
            <a:rPr lang="en-GB" sz="1300" kern="1200">
              <a:latin typeface="Calibri"/>
              <a:ea typeface="Calibri"/>
              <a:cs typeface="Calibri"/>
            </a:rPr>
            <a:t>Provides functionalities for driver onboarding, profile management, performance tracking, and allocation of ride requests.</a:t>
          </a:r>
        </a:p>
      </dsp:txBody>
      <dsp:txXfrm>
        <a:off x="5216563" y="2378846"/>
        <a:ext cx="2369807" cy="1421884"/>
      </dsp:txXfrm>
    </dsp:sp>
    <dsp:sp modelId="{EF55FBF2-0FCF-4D70-B71A-E91C6FC0B167}">
      <dsp:nvSpPr>
        <dsp:cNvPr id="0" name=""/>
        <dsp:cNvSpPr/>
      </dsp:nvSpPr>
      <dsp:spPr>
        <a:xfrm>
          <a:off x="7823351" y="2378846"/>
          <a:ext cx="2369807" cy="142188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Admin Portal (ID: 379)</a:t>
          </a:r>
          <a:br>
            <a:rPr lang="en-GB" sz="1300" kern="1200">
              <a:latin typeface="Calibri"/>
              <a:ea typeface="Calibri"/>
              <a:cs typeface="Calibri"/>
            </a:rPr>
          </a:br>
          <a:r>
            <a:rPr lang="en-GB" sz="1300" kern="1200">
              <a:latin typeface="Calibri"/>
              <a:ea typeface="Calibri"/>
              <a:cs typeface="Calibri"/>
            </a:rPr>
            <a:t>Acts as a centralized dashboard for administrators to manage system configurations, monitor activities, and generate reports.</a:t>
          </a:r>
          <a:endParaRPr lang="en-US" sz="1300" kern="1200">
            <a:latin typeface="Calibri"/>
            <a:ea typeface="Calibri"/>
            <a:cs typeface="Calibri"/>
          </a:endParaRPr>
        </a:p>
      </dsp:txBody>
      <dsp:txXfrm>
        <a:off x="7823351" y="2378846"/>
        <a:ext cx="2369807" cy="142188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A picture containing computer&#10;&#10;Description automatically generated">
            <a:extLst>
              <a:ext uri="{FF2B5EF4-FFF2-40B4-BE49-F238E27FC236}">
                <a16:creationId xmlns:a16="http://schemas.microsoft.com/office/drawing/2014/main" id="{7C2544A3-15A8-6276-0EF4-834C72E5CD05}"/>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61118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7964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55E8AA0-71CA-8ABC-3158-C76E10F8B6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0194" cy="6856984"/>
          </a:xfrm>
          <a:prstGeom prst="rect">
            <a:avLst/>
          </a:prstGeom>
        </p:spPr>
      </p:pic>
      <p:grpSp>
        <p:nvGrpSpPr>
          <p:cNvPr id="8" name="Group 7">
            <a:extLst>
              <a:ext uri="{FF2B5EF4-FFF2-40B4-BE49-F238E27FC236}">
                <a16:creationId xmlns:a16="http://schemas.microsoft.com/office/drawing/2014/main" id="{0E65F77D-830B-4587-6179-EAEFDB59DA9F}"/>
              </a:ext>
            </a:extLst>
          </p:cNvPr>
          <p:cNvGrpSpPr/>
          <p:nvPr userDrawn="1"/>
        </p:nvGrpSpPr>
        <p:grpSpPr>
          <a:xfrm>
            <a:off x="9865635" y="6420365"/>
            <a:ext cx="2243886" cy="375289"/>
            <a:chOff x="10212759" y="6518571"/>
            <a:chExt cx="1842973" cy="313399"/>
          </a:xfrm>
        </p:grpSpPr>
        <p:pic>
          <p:nvPicPr>
            <p:cNvPr id="9" name="Picture 8">
              <a:extLst>
                <a:ext uri="{FF2B5EF4-FFF2-40B4-BE49-F238E27FC236}">
                  <a16:creationId xmlns:a16="http://schemas.microsoft.com/office/drawing/2014/main" id="{5EF7F4F5-4091-F7DF-B5D7-27F2CF09B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2759" y="6518571"/>
              <a:ext cx="1842973" cy="313399"/>
            </a:xfrm>
            <a:prstGeom prst="rect">
              <a:avLst/>
            </a:prstGeom>
          </p:spPr>
        </p:pic>
        <p:sp>
          <p:nvSpPr>
            <p:cNvPr id="10" name="Rectangle 9">
              <a:extLst>
                <a:ext uri="{FF2B5EF4-FFF2-40B4-BE49-F238E27FC236}">
                  <a16:creationId xmlns:a16="http://schemas.microsoft.com/office/drawing/2014/main" id="{65D479FE-F2A7-1259-E9F7-5B06988F5483}"/>
                </a:ext>
              </a:extLst>
            </p:cNvPr>
            <p:cNvSpPr/>
            <p:nvPr/>
          </p:nvSpPr>
          <p:spPr>
            <a:xfrm>
              <a:off x="10248188" y="6547414"/>
              <a:ext cx="1613629" cy="257021"/>
            </a:xfrm>
            <a:prstGeom prst="rect">
              <a:avLst/>
            </a:prstGeom>
          </p:spPr>
          <p:txBody>
            <a:bodyPr wrap="none">
              <a:spAutoFit/>
            </a:bodyPr>
            <a:lstStyle/>
            <a:p>
              <a:r>
                <a:rPr lang="en-GB" sz="1400">
                  <a:solidFill>
                    <a:schemeClr val="bg1"/>
                  </a:solidFill>
                  <a:latin typeface="Helvetica" panose="020B0604020202030204" pitchFamily="34" charset="0"/>
                  <a:cs typeface="Segoe UI" panose="020B0502040204020203" pitchFamily="34" charset="0"/>
                </a:rPr>
                <a:t>www.collaberadigital.com</a:t>
              </a:r>
              <a:endParaRPr lang="en-IN" sz="1400">
                <a:solidFill>
                  <a:schemeClr val="bg1"/>
                </a:solidFill>
                <a:latin typeface="Helvetica" panose="020B0604020202030204" pitchFamily="34" charset="0"/>
              </a:endParaRPr>
            </a:p>
          </p:txBody>
        </p:sp>
      </p:grpSp>
      <p:pic>
        <p:nvPicPr>
          <p:cNvPr id="11" name="Picture 10">
            <a:extLst>
              <a:ext uri="{FF2B5EF4-FFF2-40B4-BE49-F238E27FC236}">
                <a16:creationId xmlns:a16="http://schemas.microsoft.com/office/drawing/2014/main" id="{FD3E0E5C-9845-273F-56DA-9B3EDBB349D2}"/>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b="78063"/>
          <a:stretch/>
        </p:blipFill>
        <p:spPr>
          <a:xfrm>
            <a:off x="1524" y="0"/>
            <a:ext cx="12188951" cy="1504093"/>
          </a:xfrm>
          <a:prstGeom prst="rect">
            <a:avLst/>
          </a:prstGeom>
        </p:spPr>
      </p:pic>
      <p:pic>
        <p:nvPicPr>
          <p:cNvPr id="12" name="Picture 11">
            <a:extLst>
              <a:ext uri="{FF2B5EF4-FFF2-40B4-BE49-F238E27FC236}">
                <a16:creationId xmlns:a16="http://schemas.microsoft.com/office/drawing/2014/main" id="{8526341B-E791-8397-013A-AE21E4F2BB6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578354" y="53050"/>
            <a:ext cx="1534767" cy="744647"/>
          </a:xfrm>
          <a:prstGeom prst="rect">
            <a:avLst/>
          </a:prstGeom>
        </p:spPr>
      </p:pic>
    </p:spTree>
    <p:extLst>
      <p:ext uri="{BB962C8B-B14F-4D97-AF65-F5344CB8AC3E}">
        <p14:creationId xmlns:p14="http://schemas.microsoft.com/office/powerpoint/2010/main" val="369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8382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2F81F2-6943-BD2A-4FF4-E7B5E1C420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81108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767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Placeholder 14">
            <a:extLst>
              <a:ext uri="{FF2B5EF4-FFF2-40B4-BE49-F238E27FC236}">
                <a16:creationId xmlns:a16="http://schemas.microsoft.com/office/drawing/2014/main" id="{2E4B68A4-8690-EBA2-0E25-8D52163C045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2667000" y="-2667000"/>
            <a:ext cx="6858000" cy="12192000"/>
          </a:xfrm>
          <a:prstGeom prst="rect">
            <a:avLst/>
          </a:prstGeom>
        </p:spPr>
      </p:pic>
    </p:spTree>
    <p:extLst>
      <p:ext uri="{BB962C8B-B14F-4D97-AF65-F5344CB8AC3E}">
        <p14:creationId xmlns:p14="http://schemas.microsoft.com/office/powerpoint/2010/main" val="213584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286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674B4E-3A36-AE80-F596-88EAFA8D99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24626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CA9CB-EA19-2393-BF51-26E7F2352C6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1A29783-5D87-872F-CAFD-AB55F8755C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D05066-0C5F-10FD-4732-990408379240}"/>
              </a:ext>
            </a:extLst>
          </p:cNvPr>
          <p:cNvSpPr>
            <a:spLocks noGrp="1"/>
          </p:cNvSpPr>
          <p:nvPr>
            <p:ph type="dt" sz="half" idx="10"/>
          </p:nvPr>
        </p:nvSpPr>
        <p:spPr/>
        <p:txBody>
          <a:bodyPr/>
          <a:lstStyle/>
          <a:p>
            <a:fld id="{8E202018-9FCD-4D25-B6CE-F2EE6554B948}" type="datetimeFigureOut">
              <a:rPr lang="en-GB" smtClean="0"/>
              <a:t>26/05/2025</a:t>
            </a:fld>
            <a:endParaRPr lang="en-GB"/>
          </a:p>
        </p:txBody>
      </p:sp>
      <p:sp>
        <p:nvSpPr>
          <p:cNvPr id="5" name="Footer Placeholder 4">
            <a:extLst>
              <a:ext uri="{FF2B5EF4-FFF2-40B4-BE49-F238E27FC236}">
                <a16:creationId xmlns:a16="http://schemas.microsoft.com/office/drawing/2014/main" id="{13A0B538-C4AD-1054-4F47-764801D07D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A317CC-9EF1-8073-3DEB-C5C7EA495B7A}"/>
              </a:ext>
            </a:extLst>
          </p:cNvPr>
          <p:cNvSpPr>
            <a:spLocks noGrp="1"/>
          </p:cNvSpPr>
          <p:nvPr>
            <p:ph type="sldNum" sz="quarter" idx="12"/>
          </p:nvPr>
        </p:nvSpPr>
        <p:spPr/>
        <p:txBody>
          <a:bodyPr/>
          <a:lstStyle/>
          <a:p>
            <a:fld id="{A4E5F92F-5455-4825-B5D5-E4B9DF796AE3}" type="slidenum">
              <a:rPr lang="en-GB" smtClean="0"/>
              <a:t>‹#›</a:t>
            </a:fld>
            <a:endParaRPr lang="en-GB"/>
          </a:p>
        </p:txBody>
      </p:sp>
    </p:spTree>
    <p:extLst>
      <p:ext uri="{BB962C8B-B14F-4D97-AF65-F5344CB8AC3E}">
        <p14:creationId xmlns:p14="http://schemas.microsoft.com/office/powerpoint/2010/main" val="4119218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55309-23B4-3FB1-A899-9932B6216D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EC846A-535B-C8A0-F5CA-2FAC0413AD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176679-D4C2-F46B-DCF3-2251FEF147C5}"/>
              </a:ext>
            </a:extLst>
          </p:cNvPr>
          <p:cNvSpPr>
            <a:spLocks noGrp="1"/>
          </p:cNvSpPr>
          <p:nvPr>
            <p:ph type="dt" sz="half" idx="10"/>
          </p:nvPr>
        </p:nvSpPr>
        <p:spPr/>
        <p:txBody>
          <a:bodyPr/>
          <a:lstStyle/>
          <a:p>
            <a:fld id="{8E202018-9FCD-4D25-B6CE-F2EE6554B948}" type="datetimeFigureOut">
              <a:rPr lang="en-GB" smtClean="0"/>
              <a:t>26/05/2025</a:t>
            </a:fld>
            <a:endParaRPr lang="en-GB"/>
          </a:p>
        </p:txBody>
      </p:sp>
      <p:sp>
        <p:nvSpPr>
          <p:cNvPr id="5" name="Footer Placeholder 4">
            <a:extLst>
              <a:ext uri="{FF2B5EF4-FFF2-40B4-BE49-F238E27FC236}">
                <a16:creationId xmlns:a16="http://schemas.microsoft.com/office/drawing/2014/main" id="{BA18B2AE-FB27-C6BC-15F6-84B106995F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C25CC4-38E9-98A1-F885-2B6A6D457D73}"/>
              </a:ext>
            </a:extLst>
          </p:cNvPr>
          <p:cNvSpPr>
            <a:spLocks noGrp="1"/>
          </p:cNvSpPr>
          <p:nvPr>
            <p:ph type="sldNum" sz="quarter" idx="12"/>
          </p:nvPr>
        </p:nvSpPr>
        <p:spPr/>
        <p:txBody>
          <a:bodyPr/>
          <a:lstStyle/>
          <a:p>
            <a:fld id="{A4E5F92F-5455-4825-B5D5-E4B9DF796AE3}" type="slidenum">
              <a:rPr lang="en-GB" smtClean="0"/>
              <a:t>‹#›</a:t>
            </a:fld>
            <a:endParaRPr lang="en-GB"/>
          </a:p>
        </p:txBody>
      </p:sp>
    </p:spTree>
    <p:extLst>
      <p:ext uri="{BB962C8B-B14F-4D97-AF65-F5344CB8AC3E}">
        <p14:creationId xmlns:p14="http://schemas.microsoft.com/office/powerpoint/2010/main" val="2756934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9628D0-6D27-3A22-3CBC-5435A86BDB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E8248BE-D040-3D21-3A61-EE22584BB4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681DDF-7CC1-D788-F48E-8EBA8012AA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202018-9FCD-4D25-B6CE-F2EE6554B948}" type="datetimeFigureOut">
              <a:rPr lang="en-GB" smtClean="0"/>
              <a:t>26/05/2025</a:t>
            </a:fld>
            <a:endParaRPr lang="en-GB"/>
          </a:p>
        </p:txBody>
      </p:sp>
      <p:sp>
        <p:nvSpPr>
          <p:cNvPr id="5" name="Footer Placeholder 4">
            <a:extLst>
              <a:ext uri="{FF2B5EF4-FFF2-40B4-BE49-F238E27FC236}">
                <a16:creationId xmlns:a16="http://schemas.microsoft.com/office/drawing/2014/main" id="{F8EAD2C6-7BBE-418E-D4F1-DD5A8D5A03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B36D678-3C77-7F4A-530D-35BE9C7A21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E5F92F-5455-4825-B5D5-E4B9DF796AE3}" type="slidenum">
              <a:rPr lang="en-GB" smtClean="0"/>
              <a:t>‹#›</a:t>
            </a:fld>
            <a:endParaRPr lang="en-GB"/>
          </a:p>
        </p:txBody>
      </p:sp>
    </p:spTree>
    <p:extLst>
      <p:ext uri="{BB962C8B-B14F-4D97-AF65-F5344CB8AC3E}">
        <p14:creationId xmlns:p14="http://schemas.microsoft.com/office/powerpoint/2010/main" val="341720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8.svg"/><Relationship Id="rId7" Type="http://schemas.openxmlformats.org/officeDocument/2006/relationships/diagramColors" Target="../diagrams/colors1.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hyperlink" Target="https://github.com/sureshnanjan/cognixia042025/tree/saipalleboina_repository-branch/MyShuttle/Myshuttl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hyperlink" Target="https://github.com/sureshnanjan/cognixia042025/tree/saipalleboina_repository-branch/MyShuttle/Myshuttle"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hyperlink" Target="https://console.cloud.google.com/compute/instances?hl=en&amp;inv=1&amp;invt=AbyZdw&amp;project=probable-dream-459616-f3" TargetMode="Externa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0ABB8D-A9B1-BF5E-8E51-DAC64CE57FBB}"/>
              </a:ext>
            </a:extLst>
          </p:cNvPr>
          <p:cNvSpPr txBox="1"/>
          <p:nvPr/>
        </p:nvSpPr>
        <p:spPr>
          <a:xfrm>
            <a:off x="941924" y="1995047"/>
            <a:ext cx="7882762" cy="1938992"/>
          </a:xfrm>
          <a:prstGeom prst="rect">
            <a:avLst/>
          </a:prstGeom>
          <a:noFill/>
        </p:spPr>
        <p:txBody>
          <a:bodyPr wrap="square" lIns="91440" tIns="45720" rIns="91440" bIns="45720" anchor="t">
            <a:spAutoFit/>
          </a:bodyPr>
          <a:lstStyle/>
          <a:p>
            <a:pPr algn="ctr"/>
            <a:r>
              <a:rPr lang="en-US" sz="6000" b="1">
                <a:latin typeface="Neue Machina"/>
                <a:ea typeface="Calibri"/>
              </a:rPr>
              <a:t>Capstone</a:t>
            </a:r>
            <a:br>
              <a:rPr lang="en-US" sz="6000" b="1">
                <a:effectLst/>
                <a:latin typeface="Neue Machina" panose="00000500000000000000" pitchFamily="50" charset="0"/>
                <a:ea typeface="Calibri" panose="020F0502020204030204" pitchFamily="34" charset="0"/>
              </a:rPr>
            </a:br>
            <a:r>
              <a:rPr lang="en-US" sz="6000" b="1">
                <a:effectLst/>
                <a:latin typeface="Neue Machina"/>
                <a:ea typeface="Calibri"/>
              </a:rPr>
              <a:t>Project</a:t>
            </a:r>
            <a:r>
              <a:rPr lang="en-US" sz="6000" b="1">
                <a:latin typeface="Neue Machina"/>
                <a:ea typeface="Calibri"/>
              </a:rPr>
              <a:t> - MyShuttle</a:t>
            </a:r>
            <a:endParaRPr lang="en-GB" sz="6000" b="1">
              <a:latin typeface="Neue Machina"/>
              <a:ea typeface="Calibri"/>
            </a:endParaRPr>
          </a:p>
        </p:txBody>
      </p:sp>
      <p:pic>
        <p:nvPicPr>
          <p:cNvPr id="3" name="Graphic 2">
            <a:extLst>
              <a:ext uri="{FF2B5EF4-FFF2-40B4-BE49-F238E27FC236}">
                <a16:creationId xmlns:a16="http://schemas.microsoft.com/office/drawing/2014/main" id="{C8FE0234-23EC-7806-340E-632A55BD404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0" y="0"/>
            <a:ext cx="2401383" cy="902227"/>
          </a:xfrm>
          <a:prstGeom prst="rect">
            <a:avLst/>
          </a:prstGeom>
        </p:spPr>
      </p:pic>
    </p:spTree>
    <p:extLst>
      <p:ext uri="{BB962C8B-B14F-4D97-AF65-F5344CB8AC3E}">
        <p14:creationId xmlns:p14="http://schemas.microsoft.com/office/powerpoint/2010/main" val="89247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ADA6FF-6F44-C06C-54EB-E08AF6143311}"/>
              </a:ext>
            </a:extLst>
          </p:cNvPr>
          <p:cNvSpPr txBox="1"/>
          <p:nvPr/>
        </p:nvSpPr>
        <p:spPr>
          <a:xfrm>
            <a:off x="323850" y="760591"/>
            <a:ext cx="4880597" cy="461665"/>
          </a:xfrm>
          <a:prstGeom prst="rect">
            <a:avLst/>
          </a:prstGeom>
          <a:noFill/>
        </p:spPr>
        <p:txBody>
          <a:bodyPr wrap="square">
            <a:spAutoFit/>
          </a:bodyPr>
          <a:lstStyle/>
          <a:p>
            <a:r>
              <a:rPr lang="en-IN" sz="2400" b="1">
                <a:effectLst/>
                <a:latin typeface="Neue Machina" panose="00000500000000000000" pitchFamily="50" charset="0"/>
                <a:ea typeface="Calibri" panose="020F0502020204030204" pitchFamily="34" charset="0"/>
              </a:rPr>
              <a:t>Personal BACKGROUND</a:t>
            </a:r>
            <a:endParaRPr lang="en-GB" sz="2400" b="1">
              <a:latin typeface="Neue Machina" panose="00000500000000000000" pitchFamily="50" charset="0"/>
            </a:endParaRPr>
          </a:p>
        </p:txBody>
      </p:sp>
      <p:sp>
        <p:nvSpPr>
          <p:cNvPr id="4" name="TextBox 3">
            <a:extLst>
              <a:ext uri="{FF2B5EF4-FFF2-40B4-BE49-F238E27FC236}">
                <a16:creationId xmlns:a16="http://schemas.microsoft.com/office/drawing/2014/main" id="{518A408B-108E-8EA9-DA0A-9F0FA1CD9B17}"/>
              </a:ext>
            </a:extLst>
          </p:cNvPr>
          <p:cNvSpPr txBox="1"/>
          <p:nvPr/>
        </p:nvSpPr>
        <p:spPr>
          <a:xfrm>
            <a:off x="325949" y="1717899"/>
            <a:ext cx="2299322" cy="369332"/>
          </a:xfrm>
          <a:prstGeom prst="rect">
            <a:avLst/>
          </a:prstGeom>
          <a:noFill/>
        </p:spPr>
        <p:txBody>
          <a:bodyPr wrap="square" lIns="91440" tIns="45720" rIns="91440" bIns="45720" anchor="t">
            <a:spAutoFit/>
          </a:bodyPr>
          <a:lstStyle/>
          <a:p>
            <a:r>
              <a:rPr lang="en-IN" b="1">
                <a:latin typeface="Neue Machina"/>
                <a:ea typeface="Calibri"/>
              </a:rPr>
              <a:t>Team</a:t>
            </a:r>
            <a:r>
              <a:rPr lang="en-IN" sz="1800" b="1">
                <a:effectLst/>
                <a:latin typeface="Neue Machina"/>
                <a:ea typeface="Calibri"/>
              </a:rPr>
              <a:t> :</a:t>
            </a:r>
            <a:r>
              <a:rPr lang="en-IN" b="1">
                <a:latin typeface="Neue Machina"/>
                <a:ea typeface="Calibri"/>
              </a:rPr>
              <a:t> Group 4</a:t>
            </a:r>
            <a:endParaRPr lang="en-GB" b="1">
              <a:latin typeface="Neue Machina"/>
              <a:ea typeface="Calibri"/>
            </a:endParaRPr>
          </a:p>
        </p:txBody>
      </p:sp>
      <p:sp>
        <p:nvSpPr>
          <p:cNvPr id="5" name="TextBox 4">
            <a:extLst>
              <a:ext uri="{FF2B5EF4-FFF2-40B4-BE49-F238E27FC236}">
                <a16:creationId xmlns:a16="http://schemas.microsoft.com/office/drawing/2014/main" id="{F86A3C17-90A3-F93F-5D84-D3D378E1ACB2}"/>
              </a:ext>
            </a:extLst>
          </p:cNvPr>
          <p:cNvSpPr txBox="1"/>
          <p:nvPr/>
        </p:nvSpPr>
        <p:spPr>
          <a:xfrm>
            <a:off x="992699" y="2225592"/>
            <a:ext cx="2794169" cy="1200329"/>
          </a:xfrm>
          <a:prstGeom prst="rect">
            <a:avLst/>
          </a:prstGeom>
          <a:noFill/>
        </p:spPr>
        <p:txBody>
          <a:bodyPr wrap="square" lIns="91440" tIns="45720" rIns="91440" bIns="45720" anchor="t">
            <a:spAutoFit/>
          </a:bodyPr>
          <a:lstStyle/>
          <a:p>
            <a:pPr marL="342900" indent="-342900">
              <a:buAutoNum type="arabicPeriod"/>
            </a:pPr>
            <a:r>
              <a:rPr lang="en-IN" b="1">
                <a:ea typeface="+mn-lt"/>
                <a:cs typeface="+mn-lt"/>
              </a:rPr>
              <a:t>Sai </a:t>
            </a:r>
            <a:r>
              <a:rPr lang="en-IN" b="1" err="1">
                <a:ea typeface="+mn-lt"/>
                <a:cs typeface="+mn-lt"/>
              </a:rPr>
              <a:t>Palleboina</a:t>
            </a:r>
            <a:endParaRPr lang="en-US" err="1">
              <a:ea typeface="Calibri" panose="020F0502020204030204"/>
              <a:cs typeface="Calibri" panose="020F0502020204030204"/>
            </a:endParaRPr>
          </a:p>
          <a:p>
            <a:pPr marL="342900" indent="-342900">
              <a:buAutoNum type="arabicPeriod"/>
            </a:pPr>
            <a:r>
              <a:rPr lang="en-IN" b="1">
                <a:latin typeface="Calibri"/>
                <a:ea typeface="Calibri"/>
                <a:cs typeface="Calibri"/>
              </a:rPr>
              <a:t>Shriya </a:t>
            </a:r>
            <a:r>
              <a:rPr lang="en-IN" b="1" err="1">
                <a:latin typeface="Calibri"/>
                <a:ea typeface="Calibri"/>
                <a:cs typeface="Calibri"/>
              </a:rPr>
              <a:t>Jorrigala</a:t>
            </a:r>
          </a:p>
          <a:p>
            <a:pPr marL="342900" indent="-342900">
              <a:buAutoNum type="arabicPeriod"/>
            </a:pPr>
            <a:r>
              <a:rPr lang="en-IN" b="1">
                <a:latin typeface="Neue Machina"/>
                <a:ea typeface="Calibri"/>
              </a:rPr>
              <a:t>Ganesh </a:t>
            </a:r>
            <a:r>
              <a:rPr lang="en-IN" b="1" err="1">
                <a:latin typeface="Neue Machina"/>
                <a:ea typeface="Calibri"/>
              </a:rPr>
              <a:t>Korasala</a:t>
            </a:r>
            <a:endParaRPr lang="en-IN" err="1">
              <a:ea typeface="Calibri" panose="020F0502020204030204"/>
              <a:cs typeface="Calibri" panose="020F0502020204030204"/>
            </a:endParaRPr>
          </a:p>
          <a:p>
            <a:pPr marL="342900" indent="-342900">
              <a:buAutoNum type="arabicPeriod"/>
            </a:pPr>
            <a:r>
              <a:rPr lang="en-IN" b="1">
                <a:latin typeface="Neue Machina"/>
                <a:ea typeface="Calibri"/>
              </a:rPr>
              <a:t>Karri Varun</a:t>
            </a:r>
          </a:p>
        </p:txBody>
      </p:sp>
      <p:grpSp>
        <p:nvGrpSpPr>
          <p:cNvPr id="14" name="Group 13">
            <a:extLst>
              <a:ext uri="{FF2B5EF4-FFF2-40B4-BE49-F238E27FC236}">
                <a16:creationId xmlns:a16="http://schemas.microsoft.com/office/drawing/2014/main" id="{9EBA3E50-760C-4B48-105E-E945156BB4B8}"/>
              </a:ext>
            </a:extLst>
          </p:cNvPr>
          <p:cNvGrpSpPr/>
          <p:nvPr/>
        </p:nvGrpSpPr>
        <p:grpSpPr>
          <a:xfrm>
            <a:off x="9574540" y="6420365"/>
            <a:ext cx="2243886" cy="375289"/>
            <a:chOff x="10212759" y="6518571"/>
            <a:chExt cx="1842973" cy="313399"/>
          </a:xfrm>
        </p:grpSpPr>
        <p:pic>
          <p:nvPicPr>
            <p:cNvPr id="15" name="Picture 14">
              <a:extLst>
                <a:ext uri="{FF2B5EF4-FFF2-40B4-BE49-F238E27FC236}">
                  <a16:creationId xmlns:a16="http://schemas.microsoft.com/office/drawing/2014/main" id="{5E71206E-49DD-6821-C349-BF92F187E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2759" y="6518571"/>
              <a:ext cx="1842973" cy="313399"/>
            </a:xfrm>
            <a:prstGeom prst="rect">
              <a:avLst/>
            </a:prstGeom>
          </p:spPr>
        </p:pic>
        <p:sp>
          <p:nvSpPr>
            <p:cNvPr id="16" name="Rectangle 15">
              <a:extLst>
                <a:ext uri="{FF2B5EF4-FFF2-40B4-BE49-F238E27FC236}">
                  <a16:creationId xmlns:a16="http://schemas.microsoft.com/office/drawing/2014/main" id="{36F6DD2B-5B85-359C-4FBD-B253EDD278C8}"/>
                </a:ext>
              </a:extLst>
            </p:cNvPr>
            <p:cNvSpPr/>
            <p:nvPr/>
          </p:nvSpPr>
          <p:spPr>
            <a:xfrm>
              <a:off x="10248188" y="6547414"/>
              <a:ext cx="1613629" cy="257021"/>
            </a:xfrm>
            <a:prstGeom prst="rect">
              <a:avLst/>
            </a:prstGeom>
          </p:spPr>
          <p:txBody>
            <a:bodyPr wrap="none">
              <a:spAutoFit/>
            </a:bodyPr>
            <a:lstStyle/>
            <a:p>
              <a:r>
                <a:rPr lang="en-GB" sz="1400">
                  <a:solidFill>
                    <a:schemeClr val="bg1"/>
                  </a:solidFill>
                  <a:latin typeface="Helvetica" panose="020B0604020202030204" pitchFamily="34" charset="0"/>
                  <a:cs typeface="Segoe UI" panose="020B0502040204020203" pitchFamily="34" charset="0"/>
                </a:rPr>
                <a:t>www.collaberadigital.com</a:t>
              </a:r>
              <a:endParaRPr lang="en-IN" sz="1400">
                <a:solidFill>
                  <a:schemeClr val="bg1"/>
                </a:solidFill>
                <a:latin typeface="Helvetica" panose="020B0604020202030204" pitchFamily="34" charset="0"/>
              </a:endParaRPr>
            </a:p>
          </p:txBody>
        </p:sp>
      </p:grpSp>
      <p:pic>
        <p:nvPicPr>
          <p:cNvPr id="11" name="Content Placeholder 7" descr="A shadow of a person holding a piece of paper&#10;&#10;Description automatically generated with medium confidence">
            <a:extLst>
              <a:ext uri="{FF2B5EF4-FFF2-40B4-BE49-F238E27FC236}">
                <a16:creationId xmlns:a16="http://schemas.microsoft.com/office/drawing/2014/main" id="{DC448513-01ED-D953-1310-6C67CD5329A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2854" r="21746"/>
          <a:stretch/>
        </p:blipFill>
        <p:spPr>
          <a:xfrm>
            <a:off x="7556763" y="0"/>
            <a:ext cx="4635237" cy="685800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pic>
        <p:nvPicPr>
          <p:cNvPr id="12" name="Graphic 11">
            <a:extLst>
              <a:ext uri="{FF2B5EF4-FFF2-40B4-BE49-F238E27FC236}">
                <a16:creationId xmlns:a16="http://schemas.microsoft.com/office/drawing/2014/main" id="{2E060AA3-7941-8126-2364-D4ADA04CFDA9}"/>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90623" y="0"/>
            <a:ext cx="2401377" cy="902226"/>
          </a:xfrm>
          <a:prstGeom prst="rect">
            <a:avLst/>
          </a:prstGeom>
        </p:spPr>
      </p:pic>
      <p:sp>
        <p:nvSpPr>
          <p:cNvPr id="19" name="Rectangle 18">
            <a:extLst>
              <a:ext uri="{FF2B5EF4-FFF2-40B4-BE49-F238E27FC236}">
                <a16:creationId xmlns:a16="http://schemas.microsoft.com/office/drawing/2014/main" id="{E693E662-DEF3-AC26-DAC6-B46F4CFDCDCC}"/>
              </a:ext>
            </a:extLst>
          </p:cNvPr>
          <p:cNvSpPr/>
          <p:nvPr/>
        </p:nvSpPr>
        <p:spPr>
          <a:xfrm>
            <a:off x="4740604" y="-930885"/>
            <a:ext cx="513567" cy="513567"/>
          </a:xfrm>
          <a:prstGeom prst="rect">
            <a:avLst/>
          </a:prstGeom>
          <a:solidFill>
            <a:srgbClr val="71758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20" name="Straight Connector 19">
            <a:extLst>
              <a:ext uri="{FF2B5EF4-FFF2-40B4-BE49-F238E27FC236}">
                <a16:creationId xmlns:a16="http://schemas.microsoft.com/office/drawing/2014/main" id="{927653B8-8986-53CB-65C9-A4869AC37323}"/>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89389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6" descr="A picture containing grate&#10;&#10;Description automatically generated">
            <a:extLst>
              <a:ext uri="{FF2B5EF4-FFF2-40B4-BE49-F238E27FC236}">
                <a16:creationId xmlns:a16="http://schemas.microsoft.com/office/drawing/2014/main" id="{37D42EBD-34CB-B25E-42E2-257C43629CB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9330" r="16904"/>
          <a:stretch/>
        </p:blipFill>
        <p:spPr>
          <a:xfrm>
            <a:off x="7695292" y="0"/>
            <a:ext cx="4496708" cy="6858000"/>
          </a:xfrm>
          <a:prstGeom prst="rect">
            <a:avLst/>
          </a:prstGeom>
        </p:spPr>
      </p:pic>
      <p:pic>
        <p:nvPicPr>
          <p:cNvPr id="13" name="Graphic 12">
            <a:extLst>
              <a:ext uri="{FF2B5EF4-FFF2-40B4-BE49-F238E27FC236}">
                <a16:creationId xmlns:a16="http://schemas.microsoft.com/office/drawing/2014/main" id="{D9FC0F81-B480-D9C4-934C-7D63DE92E092}"/>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47" y="0"/>
            <a:ext cx="2401377" cy="902226"/>
          </a:xfrm>
          <a:prstGeom prst="rect">
            <a:avLst/>
          </a:prstGeom>
        </p:spPr>
      </p:pic>
      <p:sp>
        <p:nvSpPr>
          <p:cNvPr id="6" name="TextBox 5">
            <a:extLst>
              <a:ext uri="{FF2B5EF4-FFF2-40B4-BE49-F238E27FC236}">
                <a16:creationId xmlns:a16="http://schemas.microsoft.com/office/drawing/2014/main" id="{0D730E22-84C3-33DE-6F74-CB73EF6B951D}"/>
              </a:ext>
            </a:extLst>
          </p:cNvPr>
          <p:cNvSpPr txBox="1"/>
          <p:nvPr/>
        </p:nvSpPr>
        <p:spPr>
          <a:xfrm>
            <a:off x="330200" y="898276"/>
            <a:ext cx="7037614" cy="369332"/>
          </a:xfrm>
          <a:prstGeom prst="rect">
            <a:avLst/>
          </a:prstGeom>
          <a:noFill/>
        </p:spPr>
        <p:txBody>
          <a:bodyPr wrap="square">
            <a:spAutoFit/>
          </a:bodyPr>
          <a:lstStyle/>
          <a:p>
            <a:r>
              <a:rPr lang="en-IN" sz="1800" b="1">
                <a:effectLst/>
                <a:latin typeface="Neue Machina" panose="00000500000000000000" pitchFamily="50" charset="0"/>
                <a:ea typeface="Calibri" panose="020F0502020204030204" pitchFamily="34" charset="0"/>
              </a:rPr>
              <a:t>Key Takeaways/Learnings from the Program (HTD)</a:t>
            </a:r>
            <a:endParaRPr lang="en-GB" sz="1800" b="1">
              <a:latin typeface="Neue Machina" panose="00000500000000000000" pitchFamily="50" charset="0"/>
            </a:endParaRPr>
          </a:p>
        </p:txBody>
      </p:sp>
      <p:cxnSp>
        <p:nvCxnSpPr>
          <p:cNvPr id="18" name="Straight Connector 17">
            <a:extLst>
              <a:ext uri="{FF2B5EF4-FFF2-40B4-BE49-F238E27FC236}">
                <a16:creationId xmlns:a16="http://schemas.microsoft.com/office/drawing/2014/main" id="{CCF4FCA6-FB82-1914-FF20-DF179A378A62}"/>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4B940EAD-6635-F92C-AAFF-F66E09A04A93}"/>
              </a:ext>
            </a:extLst>
          </p:cNvPr>
          <p:cNvSpPr txBox="1"/>
          <p:nvPr/>
        </p:nvSpPr>
        <p:spPr>
          <a:xfrm>
            <a:off x="327372" y="1488901"/>
            <a:ext cx="6629400" cy="51244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Tx/>
              <a:buAutoNum type="arabicPeriod"/>
            </a:pPr>
            <a:r>
              <a:rPr lang="en-US" sz="1500">
                <a:ea typeface="Calibri"/>
                <a:cs typeface="Calibri"/>
              </a:rPr>
              <a:t>Developed an understanding of test case design and acquired skills in manual testing to execute functional and non-functional test cases.</a:t>
            </a:r>
          </a:p>
          <a:p>
            <a:pPr marL="342900" indent="-342900">
              <a:buFontTx/>
              <a:buAutoNum type="arabicPeriod"/>
            </a:pPr>
            <a:r>
              <a:rPr lang="en-US" sz="1500">
                <a:ea typeface="Calibri"/>
                <a:cs typeface="Calibri"/>
              </a:rPr>
              <a:t>Learned Selenium WebDriver for automating web application testing.</a:t>
            </a:r>
          </a:p>
          <a:p>
            <a:pPr marL="342900" indent="-342900">
              <a:buFontTx/>
              <a:buAutoNum type="arabicPeriod"/>
            </a:pPr>
            <a:r>
              <a:rPr lang="en-US" sz="1500">
                <a:ea typeface="Calibri"/>
                <a:cs typeface="Calibri"/>
              </a:rPr>
              <a:t>Learned how to perform load and stress testing using tools such as JMeter.</a:t>
            </a:r>
          </a:p>
          <a:p>
            <a:pPr marL="342900" indent="-342900">
              <a:buFontTx/>
              <a:buAutoNum type="arabicPeriod"/>
            </a:pPr>
            <a:r>
              <a:rPr lang="en-US" sz="1500">
                <a:ea typeface="Calibri"/>
                <a:cs typeface="Calibri"/>
              </a:rPr>
              <a:t>Learned performing security testing using ZAPROXY</a:t>
            </a:r>
          </a:p>
          <a:p>
            <a:pPr marL="342900" indent="-342900">
              <a:buFontTx/>
              <a:buAutoNum type="arabicPeriod"/>
            </a:pPr>
            <a:r>
              <a:rPr lang="en-US" sz="1500">
                <a:ea typeface="Calibri"/>
                <a:cs typeface="Calibri"/>
              </a:rPr>
              <a:t>Understood key performance metrics and how to analyze the test results.</a:t>
            </a:r>
          </a:p>
          <a:p>
            <a:pPr marL="342900" indent="-342900">
              <a:buFontTx/>
              <a:buAutoNum type="arabicPeriod"/>
            </a:pPr>
            <a:r>
              <a:rPr lang="en-US" sz="1500">
                <a:ea typeface="Calibri"/>
                <a:cs typeface="Calibri"/>
              </a:rPr>
              <a:t>Gained hands-on experience with API testing using tools like Postman.</a:t>
            </a:r>
          </a:p>
          <a:p>
            <a:pPr marL="342900" indent="-342900">
              <a:buFontTx/>
              <a:buAutoNum type="arabicPeriod"/>
            </a:pPr>
            <a:r>
              <a:rPr lang="en-US" sz="1500">
                <a:ea typeface="Calibri"/>
                <a:cs typeface="Calibri"/>
              </a:rPr>
              <a:t>Incorporated daily scrum meetings into the training experience to simulate real Agile environments.</a:t>
            </a:r>
          </a:p>
          <a:p>
            <a:pPr marL="342900" indent="-342900">
              <a:buFontTx/>
              <a:buAutoNum type="arabicPeriod"/>
            </a:pPr>
            <a:r>
              <a:rPr lang="en-US" sz="1500">
                <a:ea typeface="Calibri"/>
                <a:cs typeface="Calibri"/>
              </a:rPr>
              <a:t>Understood the software development lifecycle (SDLC) and Agile methodology for better collaboration with cross-functional teams.</a:t>
            </a:r>
          </a:p>
          <a:p>
            <a:pPr marL="342900" indent="-342900">
              <a:buFontTx/>
              <a:buAutoNum type="arabicPeriod"/>
            </a:pPr>
            <a:r>
              <a:rPr lang="en-US" sz="1500">
                <a:ea typeface="Calibri"/>
                <a:cs typeface="Calibri"/>
              </a:rPr>
              <a:t>Learned version control using Git and how to manage code repositories on platforms like GitHub.</a:t>
            </a:r>
          </a:p>
          <a:p>
            <a:pPr marL="342900" indent="-342900">
              <a:buFontTx/>
              <a:buAutoNum type="arabicPeriod"/>
            </a:pPr>
            <a:r>
              <a:rPr lang="en-US" sz="1500">
                <a:ea typeface="Calibri"/>
                <a:cs typeface="Calibri"/>
              </a:rPr>
              <a:t>Understood the significance of non-functional requirements (NFRs) such as performance, security, and usability in software testing.</a:t>
            </a:r>
          </a:p>
          <a:p>
            <a:pPr marL="342900" indent="-342900">
              <a:buFontTx/>
              <a:buAutoNum type="arabicPeriod"/>
            </a:pPr>
            <a:r>
              <a:rPr lang="en-US" sz="1500">
                <a:ea typeface="Calibri"/>
                <a:cs typeface="Calibri"/>
              </a:rPr>
              <a:t>Practiced defect lifecycle management and effective bug reporting using tools like Jira.</a:t>
            </a:r>
          </a:p>
          <a:p>
            <a:pPr marL="342900" indent="-342900">
              <a:buFontTx/>
              <a:buAutoNum type="arabicPeriod"/>
            </a:pPr>
            <a:r>
              <a:rPr lang="en-US" sz="1500">
                <a:ea typeface="Calibri"/>
                <a:cs typeface="Calibri"/>
              </a:rPr>
              <a:t>Gained exposure to real-time project scenarios and end-to-end QA processes, enhancing industry readiness.</a:t>
            </a:r>
          </a:p>
          <a:p>
            <a:pPr marL="342900" indent="-342900">
              <a:buFontTx/>
              <a:buAutoNum type="arabicPeriod"/>
            </a:pPr>
            <a:endParaRPr lang="en-US" sz="1400">
              <a:ea typeface="Calibri"/>
              <a:cs typeface="Calibri"/>
            </a:endParaRPr>
          </a:p>
          <a:p>
            <a:pPr marL="342900" indent="-342900">
              <a:buAutoNum type="arabicPeriod"/>
            </a:pPr>
            <a:endParaRPr lang="en-US" sz="1400">
              <a:ea typeface="Calibri"/>
              <a:cs typeface="Calibri"/>
            </a:endParaRPr>
          </a:p>
          <a:p>
            <a:pPr marL="285750" indent="-285750">
              <a:buAutoNum type="arabicPeriod"/>
            </a:pPr>
            <a:endParaRPr lang="en-US" sz="1400">
              <a:ea typeface="Calibri"/>
              <a:cs typeface="Calibri"/>
            </a:endParaRPr>
          </a:p>
        </p:txBody>
      </p:sp>
    </p:spTree>
    <p:extLst>
      <p:ext uri="{BB962C8B-B14F-4D97-AF65-F5344CB8AC3E}">
        <p14:creationId xmlns:p14="http://schemas.microsoft.com/office/powerpoint/2010/main" val="96210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55063D-F1F4-B0DA-30AC-5261138A1501}"/>
              </a:ext>
            </a:extLst>
          </p:cNvPr>
          <p:cNvSpPr txBox="1"/>
          <p:nvPr/>
        </p:nvSpPr>
        <p:spPr>
          <a:xfrm>
            <a:off x="323850" y="902226"/>
            <a:ext cx="5673153" cy="369332"/>
          </a:xfrm>
          <a:prstGeom prst="rect">
            <a:avLst/>
          </a:prstGeom>
          <a:noFill/>
        </p:spPr>
        <p:txBody>
          <a:bodyPr wrap="square">
            <a:spAutoFit/>
          </a:bodyPr>
          <a:lstStyle/>
          <a:p>
            <a:r>
              <a:rPr lang="en-IN" b="1">
                <a:effectLst/>
                <a:latin typeface="Neue Machina" panose="00000500000000000000" pitchFamily="50" charset="0"/>
                <a:ea typeface="Calibri" panose="020F0502020204030204" pitchFamily="34" charset="0"/>
                <a:cs typeface="Segoe UI" panose="020B0502040204020203" pitchFamily="34" charset="0"/>
              </a:rPr>
              <a:t>Problem Statement of the Capstone Project</a:t>
            </a:r>
            <a:endParaRPr lang="en-GB" b="1">
              <a:latin typeface="Neue Machina" panose="00000500000000000000" pitchFamily="50" charset="0"/>
              <a:cs typeface="Segoe UI" panose="020B0502040204020203" pitchFamily="34" charset="0"/>
            </a:endParaRPr>
          </a:p>
        </p:txBody>
      </p:sp>
      <p:pic>
        <p:nvPicPr>
          <p:cNvPr id="4" name="Graphic 3">
            <a:extLst>
              <a:ext uri="{FF2B5EF4-FFF2-40B4-BE49-F238E27FC236}">
                <a16:creationId xmlns:a16="http://schemas.microsoft.com/office/drawing/2014/main" id="{42BCFCB1-DC7D-6574-5BB6-98A1F9330D8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5" name="Content Placeholder 10" descr="A picture containing outdoor, jumping, air&#10;&#10;Description automatically generated">
            <a:extLst>
              <a:ext uri="{FF2B5EF4-FFF2-40B4-BE49-F238E27FC236}">
                <a16:creationId xmlns:a16="http://schemas.microsoft.com/office/drawing/2014/main" id="{14B84D51-9BF9-004F-8C43-384ACE5D686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189" r="17942"/>
          <a:stretch/>
        </p:blipFill>
        <p:spPr>
          <a:xfrm>
            <a:off x="7705639" y="1"/>
            <a:ext cx="4486361" cy="6858000"/>
          </a:xfrm>
          <a:prstGeom prst="rect">
            <a:avLst/>
          </a:prstGeom>
        </p:spPr>
      </p:pic>
      <p:cxnSp>
        <p:nvCxnSpPr>
          <p:cNvPr id="7" name="Straight Connector 6">
            <a:extLst>
              <a:ext uri="{FF2B5EF4-FFF2-40B4-BE49-F238E27FC236}">
                <a16:creationId xmlns:a16="http://schemas.microsoft.com/office/drawing/2014/main" id="{D891974B-0397-ACC8-37B6-992E943C7B33}"/>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AC098575-CE04-16DA-8465-2EAF91A1EB58}"/>
              </a:ext>
            </a:extLst>
          </p:cNvPr>
          <p:cNvSpPr txBox="1"/>
          <p:nvPr/>
        </p:nvSpPr>
        <p:spPr>
          <a:xfrm>
            <a:off x="397701" y="1600852"/>
            <a:ext cx="64008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q"/>
            </a:pPr>
            <a:r>
              <a:rPr lang="en-US">
                <a:ea typeface="+mn-lt"/>
                <a:cs typeface="+mn-lt"/>
              </a:rPr>
              <a:t>The </a:t>
            </a:r>
            <a:r>
              <a:rPr lang="en-US" err="1">
                <a:ea typeface="+mn-lt"/>
                <a:cs typeface="+mn-lt"/>
              </a:rPr>
              <a:t>MyShuttle</a:t>
            </a:r>
            <a:r>
              <a:rPr lang="en-US">
                <a:ea typeface="+mn-lt"/>
                <a:cs typeface="+mn-lt"/>
              </a:rPr>
              <a:t> application aims to provide a seamless and  efficient platform for users to manage and track their shuttle services. However, the existing system </a:t>
            </a:r>
            <a:r>
              <a:rPr lang="en-US">
                <a:solidFill>
                  <a:srgbClr val="7030A0"/>
                </a:solidFill>
                <a:ea typeface="+mn-lt"/>
                <a:cs typeface="+mn-lt"/>
              </a:rPr>
              <a:t>lacks comprehensive automated testing</a:t>
            </a:r>
            <a:r>
              <a:rPr lang="en-US">
                <a:ea typeface="+mn-lt"/>
                <a:cs typeface="+mn-lt"/>
              </a:rPr>
              <a:t>, which leads to potential inefficiencies and undetected bugs in the application. </a:t>
            </a:r>
            <a:endParaRPr lang="en-US">
              <a:ea typeface="Calibri" panose="020F0502020204030204"/>
              <a:cs typeface="Calibri" panose="020F0502020204030204"/>
            </a:endParaRPr>
          </a:p>
          <a:p>
            <a:pPr marL="285750" indent="-285750" algn="just">
              <a:buFont typeface="Wingdings"/>
              <a:buChar char="q"/>
            </a:pPr>
            <a:endParaRPr lang="en-US">
              <a:ea typeface="+mn-lt"/>
              <a:cs typeface="+mn-lt"/>
            </a:endParaRPr>
          </a:p>
          <a:p>
            <a:pPr marL="285750" indent="-285750" algn="just">
              <a:buFont typeface="Wingdings"/>
              <a:buChar char="q"/>
            </a:pPr>
            <a:r>
              <a:rPr lang="en-US">
                <a:ea typeface="+mn-lt"/>
                <a:cs typeface="+mn-lt"/>
              </a:rPr>
              <a:t>The project will focus on </a:t>
            </a:r>
            <a:r>
              <a:rPr lang="en-US">
                <a:solidFill>
                  <a:srgbClr val="7030A0"/>
                </a:solidFill>
                <a:ea typeface="+mn-lt"/>
                <a:cs typeface="+mn-lt"/>
              </a:rPr>
              <a:t>implementing a robust testing framework</a:t>
            </a:r>
            <a:r>
              <a:rPr lang="en-US">
                <a:ea typeface="+mn-lt"/>
                <a:cs typeface="+mn-lt"/>
              </a:rPr>
              <a:t> using Selenium, Java and other relevant tools to ensure that all core features of the </a:t>
            </a:r>
            <a:r>
              <a:rPr lang="en-US" err="1">
                <a:ea typeface="+mn-lt"/>
                <a:cs typeface="+mn-lt"/>
              </a:rPr>
              <a:t>MyShuttle</a:t>
            </a:r>
            <a:r>
              <a:rPr lang="en-US">
                <a:ea typeface="+mn-lt"/>
                <a:cs typeface="+mn-lt"/>
              </a:rPr>
              <a:t> application are working as expected. </a:t>
            </a:r>
          </a:p>
          <a:p>
            <a:pPr marL="285750" indent="-285750" algn="just">
              <a:buFont typeface="Wingdings"/>
              <a:buChar char="q"/>
            </a:pPr>
            <a:endParaRPr lang="en-US">
              <a:ea typeface="+mn-lt"/>
              <a:cs typeface="+mn-lt"/>
            </a:endParaRPr>
          </a:p>
          <a:p>
            <a:pPr marL="285750" indent="-285750" algn="just">
              <a:buFont typeface="Wingdings"/>
              <a:buChar char="q"/>
            </a:pPr>
            <a:r>
              <a:rPr lang="en-US">
                <a:ea typeface="+mn-lt"/>
                <a:cs typeface="+mn-lt"/>
              </a:rPr>
              <a:t>The main goal is to </a:t>
            </a:r>
            <a:r>
              <a:rPr lang="en-US">
                <a:solidFill>
                  <a:srgbClr val="7030A0"/>
                </a:solidFill>
                <a:ea typeface="+mn-lt"/>
                <a:cs typeface="+mn-lt"/>
              </a:rPr>
              <a:t>enhance the quality of the application</a:t>
            </a:r>
            <a:r>
              <a:rPr lang="en-US">
                <a:ea typeface="+mn-lt"/>
                <a:cs typeface="+mn-lt"/>
              </a:rPr>
              <a:t>, improve user experience, and ensure high performance and stability by conducting extensive manual, automated, and performance testing across different modules of the application.</a:t>
            </a:r>
            <a:endParaRPr lang="en-US">
              <a:ea typeface="Calibri"/>
              <a:cs typeface="Calibri"/>
            </a:endParaRPr>
          </a:p>
        </p:txBody>
      </p:sp>
    </p:spTree>
    <p:extLst>
      <p:ext uri="{BB962C8B-B14F-4D97-AF65-F5344CB8AC3E}">
        <p14:creationId xmlns:p14="http://schemas.microsoft.com/office/powerpoint/2010/main" val="202618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01421C8-8710-4BD4-4F97-DBEBDC45F2E5}"/>
              </a:ext>
            </a:extLst>
          </p:cNvPr>
          <p:cNvSpPr/>
          <p:nvPr/>
        </p:nvSpPr>
        <p:spPr>
          <a:xfrm>
            <a:off x="0" y="-11874"/>
            <a:ext cx="12192000" cy="6858000"/>
          </a:xfrm>
          <a:prstGeom prst="rect">
            <a:avLst/>
          </a:prstGeom>
          <a:solidFill>
            <a:srgbClr val="1510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342900" indent="-342900">
              <a:buAutoNum type="arabicPeriod"/>
            </a:pPr>
            <a:endParaRPr lang="en-GB">
              <a:ea typeface="Calibri"/>
              <a:cs typeface="Calibri"/>
            </a:endParaRPr>
          </a:p>
          <a:p>
            <a:pPr marL="342900" indent="-342900">
              <a:buAutoNum type="arabicPeriod"/>
            </a:pPr>
            <a:endParaRPr lang="en-GB">
              <a:ea typeface="Calibri"/>
              <a:cs typeface="Calibri"/>
            </a:endParaRPr>
          </a:p>
          <a:p>
            <a:pPr marL="342900" indent="-342900">
              <a:buAutoNum type="arabicPeriod"/>
            </a:pPr>
            <a:endParaRPr lang="en-GB">
              <a:ea typeface="Calibri"/>
              <a:cs typeface="Calibri"/>
            </a:endParaRPr>
          </a:p>
          <a:p>
            <a:pPr marL="342900" indent="-342900">
              <a:buAutoNum type="arabicPeriod"/>
            </a:pPr>
            <a:endParaRPr lang="en-GB">
              <a:ea typeface="Calibri"/>
              <a:cs typeface="Calibri"/>
            </a:endParaRPr>
          </a:p>
          <a:p>
            <a:pPr marL="342900" indent="-342900">
              <a:buAutoNum type="arabicPeriod"/>
            </a:pPr>
            <a:endParaRPr lang="en-GB">
              <a:ea typeface="Calibri"/>
              <a:cs typeface="Calibri"/>
            </a:endParaRPr>
          </a:p>
        </p:txBody>
      </p:sp>
      <p:pic>
        <p:nvPicPr>
          <p:cNvPr id="3" name="Graphic 2">
            <a:extLst>
              <a:ext uri="{FF2B5EF4-FFF2-40B4-BE49-F238E27FC236}">
                <a16:creationId xmlns:a16="http://schemas.microsoft.com/office/drawing/2014/main" id="{670B435F-8BC0-8A7B-6294-85CE9B84AFC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4" name="Straight Connector 3">
            <a:extLst>
              <a:ext uri="{FF2B5EF4-FFF2-40B4-BE49-F238E27FC236}">
                <a16:creationId xmlns:a16="http://schemas.microsoft.com/office/drawing/2014/main" id="{822FF82F-5501-977F-6AAC-5D63218C99A4}"/>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E6E55BF6-5CB6-5B38-150A-3B2E24B80E14}"/>
              </a:ext>
            </a:extLst>
          </p:cNvPr>
          <p:cNvSpPr txBox="1"/>
          <p:nvPr/>
        </p:nvSpPr>
        <p:spPr>
          <a:xfrm>
            <a:off x="327894" y="832067"/>
            <a:ext cx="55347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Calibri"/>
                <a:cs typeface="Calibri"/>
              </a:rPr>
              <a:t>Exploratory Testing and Manual Testing</a:t>
            </a:r>
          </a:p>
        </p:txBody>
      </p:sp>
      <p:graphicFrame>
        <p:nvGraphicFramePr>
          <p:cNvPr id="14" name="Diagram 13">
            <a:extLst>
              <a:ext uri="{FF2B5EF4-FFF2-40B4-BE49-F238E27FC236}">
                <a16:creationId xmlns:a16="http://schemas.microsoft.com/office/drawing/2014/main" id="{A3B3EFF6-DBC6-26CC-DDFF-12AAE60DB3B5}"/>
              </a:ext>
            </a:extLst>
          </p:cNvPr>
          <p:cNvGraphicFramePr/>
          <p:nvPr>
            <p:extLst>
              <p:ext uri="{D42A27DB-BD31-4B8C-83A1-F6EECF244321}">
                <p14:modId xmlns:p14="http://schemas.microsoft.com/office/powerpoint/2010/main" val="2784024633"/>
              </p:ext>
            </p:extLst>
          </p:nvPr>
        </p:nvGraphicFramePr>
        <p:xfrm>
          <a:off x="560505" y="1781734"/>
          <a:ext cx="10196146" cy="4520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4" name="TextBox 53">
            <a:extLst>
              <a:ext uri="{FF2B5EF4-FFF2-40B4-BE49-F238E27FC236}">
                <a16:creationId xmlns:a16="http://schemas.microsoft.com/office/drawing/2014/main" id="{3DD96793-5258-EAAE-B933-198C35D9B4BD}"/>
              </a:ext>
            </a:extLst>
          </p:cNvPr>
          <p:cNvSpPr txBox="1"/>
          <p:nvPr/>
        </p:nvSpPr>
        <p:spPr>
          <a:xfrm>
            <a:off x="455340" y="1468243"/>
            <a:ext cx="1119954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mn-lt"/>
                <a:cs typeface="+mn-lt"/>
              </a:rPr>
              <a:t>As part of the manual testing process for our application, we have written and executed User Acceptance Tests (UAT) to ensure the system meets the business requirements and functions as expected from an end-user perspective. </a:t>
            </a:r>
            <a:r>
              <a:rPr lang="en-US">
                <a:solidFill>
                  <a:srgbClr val="0070C0"/>
                </a:solidFill>
                <a:ea typeface="Calibri"/>
                <a:cs typeface="Calibri"/>
              </a:rPr>
              <a:t>                   </a:t>
            </a:r>
            <a:endParaRPr lang="en-US">
              <a:solidFill>
                <a:srgbClr val="FFFFFF"/>
              </a:solidFill>
              <a:ea typeface="Calibri"/>
              <a:cs typeface="Calibri"/>
            </a:endParaRPr>
          </a:p>
        </p:txBody>
      </p:sp>
      <p:sp>
        <p:nvSpPr>
          <p:cNvPr id="73" name="TextBox 72">
            <a:extLst>
              <a:ext uri="{FF2B5EF4-FFF2-40B4-BE49-F238E27FC236}">
                <a16:creationId xmlns:a16="http://schemas.microsoft.com/office/drawing/2014/main" id="{B5A94330-B622-67C2-33CC-BE3E42EE90FC}"/>
              </a:ext>
            </a:extLst>
          </p:cNvPr>
          <p:cNvSpPr txBox="1"/>
          <p:nvPr/>
        </p:nvSpPr>
        <p:spPr>
          <a:xfrm>
            <a:off x="582149" y="5657529"/>
            <a:ext cx="1054905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endParaRPr lang="en-US" sz="1800">
              <a:latin typeface="Calibri"/>
              <a:ea typeface="Segoe UI"/>
              <a:cs typeface="Segoe UI"/>
            </a:endParaRPr>
          </a:p>
          <a:p>
            <a:r>
              <a:rPr lang="en-US" sz="1800" baseline="0">
                <a:solidFill>
                  <a:srgbClr val="FFFFFF"/>
                </a:solidFill>
                <a:latin typeface="Calibri"/>
                <a:ea typeface="Segoe UI"/>
                <a:cs typeface="Segoe UI"/>
              </a:rPr>
              <a:t>For more information, refer to the provided Git Repository Link: </a:t>
            </a:r>
            <a:r>
              <a:rPr lang="en-US">
                <a:solidFill>
                  <a:srgbClr val="FFFFFF"/>
                </a:solidFill>
                <a:ea typeface="+mn-lt"/>
                <a:cs typeface="+mn-lt"/>
                <a:hlinkClick r:id="rId9"/>
              </a:rPr>
              <a:t>cognixia042025/MyShuttle/Myshuttle at saipalleboina_repository-branch · sureshnanjan/cognixia042025</a:t>
            </a:r>
            <a:endParaRPr lang="en-US">
              <a:cs typeface="Segoe UI"/>
            </a:endParaRPr>
          </a:p>
        </p:txBody>
      </p:sp>
    </p:spTree>
    <p:extLst>
      <p:ext uri="{BB962C8B-B14F-4D97-AF65-F5344CB8AC3E}">
        <p14:creationId xmlns:p14="http://schemas.microsoft.com/office/powerpoint/2010/main" val="1490347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58CAEF-7789-12A7-03CB-61B59902F59C}"/>
              </a:ext>
            </a:extLst>
          </p:cNvPr>
          <p:cNvSpPr/>
          <p:nvPr/>
        </p:nvSpPr>
        <p:spPr>
          <a:xfrm>
            <a:off x="0" y="0"/>
            <a:ext cx="12192000" cy="6858000"/>
          </a:xfrm>
          <a:prstGeom prst="rect">
            <a:avLst/>
          </a:prstGeom>
          <a:solidFill>
            <a:srgbClr val="1510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u="sng">
              <a:solidFill>
                <a:srgbClr val="0563C1"/>
              </a:solidFill>
              <a:cs typeface="Segoe UI"/>
            </a:endParaRPr>
          </a:p>
        </p:txBody>
      </p:sp>
      <p:pic>
        <p:nvPicPr>
          <p:cNvPr id="6" name="Graphic 5">
            <a:extLst>
              <a:ext uri="{FF2B5EF4-FFF2-40B4-BE49-F238E27FC236}">
                <a16:creationId xmlns:a16="http://schemas.microsoft.com/office/drawing/2014/main" id="{DFE07ED2-FAB3-CE97-B1F9-0F4CCC4E955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sp>
        <p:nvSpPr>
          <p:cNvPr id="2" name="TextBox 1">
            <a:extLst>
              <a:ext uri="{FF2B5EF4-FFF2-40B4-BE49-F238E27FC236}">
                <a16:creationId xmlns:a16="http://schemas.microsoft.com/office/drawing/2014/main" id="{35F9A9DB-F26A-1DAF-AA90-A467EDF34B5E}"/>
              </a:ext>
            </a:extLst>
          </p:cNvPr>
          <p:cNvSpPr txBox="1"/>
          <p:nvPr/>
        </p:nvSpPr>
        <p:spPr>
          <a:xfrm>
            <a:off x="2381305" y="3262125"/>
            <a:ext cx="225254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Calibri"/>
                <a:cs typeface="Calibri"/>
              </a:rPr>
              <a:t>Sprint Planning </a:t>
            </a:r>
          </a:p>
        </p:txBody>
      </p:sp>
      <p:pic>
        <p:nvPicPr>
          <p:cNvPr id="3" name="Picture 2" descr="A screenshot of a computer&#10;&#10;AI-generated content may be incorrect.">
            <a:extLst>
              <a:ext uri="{FF2B5EF4-FFF2-40B4-BE49-F238E27FC236}">
                <a16:creationId xmlns:a16="http://schemas.microsoft.com/office/drawing/2014/main" id="{BEC01BC4-E198-B134-BB0F-861D8A84A4D3}"/>
              </a:ext>
            </a:extLst>
          </p:cNvPr>
          <p:cNvPicPr>
            <a:picLocks noChangeAspect="1"/>
          </p:cNvPicPr>
          <p:nvPr/>
        </p:nvPicPr>
        <p:blipFill>
          <a:blip r:embed="rId4"/>
          <a:stretch>
            <a:fillRect/>
          </a:stretch>
        </p:blipFill>
        <p:spPr>
          <a:xfrm>
            <a:off x="574431" y="882297"/>
            <a:ext cx="5873264" cy="2104021"/>
          </a:xfrm>
          <a:prstGeom prst="rect">
            <a:avLst/>
          </a:prstGeom>
        </p:spPr>
      </p:pic>
      <p:pic>
        <p:nvPicPr>
          <p:cNvPr id="4" name="Picture 3" descr="A screenshot of a survey&#10;&#10;AI-generated content may be incorrect.">
            <a:extLst>
              <a:ext uri="{FF2B5EF4-FFF2-40B4-BE49-F238E27FC236}">
                <a16:creationId xmlns:a16="http://schemas.microsoft.com/office/drawing/2014/main" id="{A54DDE07-B09C-002B-49E6-60F0AC3BF5D6}"/>
              </a:ext>
            </a:extLst>
          </p:cNvPr>
          <p:cNvPicPr>
            <a:picLocks noChangeAspect="1"/>
          </p:cNvPicPr>
          <p:nvPr/>
        </p:nvPicPr>
        <p:blipFill>
          <a:blip r:embed="rId5"/>
          <a:stretch>
            <a:fillRect/>
          </a:stretch>
        </p:blipFill>
        <p:spPr>
          <a:xfrm>
            <a:off x="6634528" y="3256450"/>
            <a:ext cx="5065835" cy="3393099"/>
          </a:xfrm>
          <a:prstGeom prst="rect">
            <a:avLst/>
          </a:prstGeom>
        </p:spPr>
      </p:pic>
    </p:spTree>
    <p:extLst>
      <p:ext uri="{BB962C8B-B14F-4D97-AF65-F5344CB8AC3E}">
        <p14:creationId xmlns:p14="http://schemas.microsoft.com/office/powerpoint/2010/main" val="1020509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F61F0-3E98-8EA5-FE1D-D08BA25C77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90C656-5BB3-B17B-BAF4-3B97D27C91FE}"/>
              </a:ext>
            </a:extLst>
          </p:cNvPr>
          <p:cNvSpPr/>
          <p:nvPr/>
        </p:nvSpPr>
        <p:spPr>
          <a:xfrm>
            <a:off x="0" y="20876"/>
            <a:ext cx="12192000"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F9150E0E-8511-2568-02B2-A751134786F6}"/>
              </a:ext>
            </a:extLst>
          </p:cNvPr>
          <p:cNvSpPr txBox="1"/>
          <p:nvPr/>
        </p:nvSpPr>
        <p:spPr>
          <a:xfrm>
            <a:off x="324314" y="843425"/>
            <a:ext cx="6224804"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E0811DF6-8A00-697C-E59A-65766B4F873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89F2C0A6-A09F-6BA8-AFA0-91B4D0E47D13}"/>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5" name="Picture 4" descr="A screenshot of a computer&#10;&#10;Description automatically generated">
            <a:extLst>
              <a:ext uri="{FF2B5EF4-FFF2-40B4-BE49-F238E27FC236}">
                <a16:creationId xmlns:a16="http://schemas.microsoft.com/office/drawing/2014/main" id="{4BA2BEE2-CDFF-61D9-EC9E-7AC6DDA45C8D}"/>
              </a:ext>
            </a:extLst>
          </p:cNvPr>
          <p:cNvPicPr>
            <a:picLocks noChangeAspect="1"/>
          </p:cNvPicPr>
          <p:nvPr/>
        </p:nvPicPr>
        <p:blipFill>
          <a:blip r:embed="rId4"/>
          <a:stretch>
            <a:fillRect/>
          </a:stretch>
        </p:blipFill>
        <p:spPr>
          <a:xfrm>
            <a:off x="323850" y="1710941"/>
            <a:ext cx="7848600" cy="4437260"/>
          </a:xfrm>
          <a:prstGeom prst="rect">
            <a:avLst/>
          </a:prstGeom>
        </p:spPr>
      </p:pic>
      <p:sp>
        <p:nvSpPr>
          <p:cNvPr id="6" name="TextBox 5">
            <a:extLst>
              <a:ext uri="{FF2B5EF4-FFF2-40B4-BE49-F238E27FC236}">
                <a16:creationId xmlns:a16="http://schemas.microsoft.com/office/drawing/2014/main" id="{4286FE4B-03C9-5578-8795-95E012FD1E8A}"/>
              </a:ext>
            </a:extLst>
          </p:cNvPr>
          <p:cNvSpPr txBox="1"/>
          <p:nvPr/>
        </p:nvSpPr>
        <p:spPr>
          <a:xfrm>
            <a:off x="8787269" y="2355676"/>
            <a:ext cx="299085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mn-lt"/>
                <a:cs typeface="+mn-lt"/>
              </a:rPr>
              <a:t>This picture shows the </a:t>
            </a:r>
            <a:r>
              <a:rPr lang="en-US" b="1" err="1">
                <a:solidFill>
                  <a:srgbClr val="FFFF00"/>
                </a:solidFill>
                <a:ea typeface="+mn-lt"/>
                <a:cs typeface="+mn-lt"/>
              </a:rPr>
              <a:t>MyShuttle</a:t>
            </a:r>
            <a:r>
              <a:rPr lang="en-US" b="1">
                <a:solidFill>
                  <a:srgbClr val="FFFF00"/>
                </a:solidFill>
                <a:ea typeface="+mn-lt"/>
                <a:cs typeface="+mn-lt"/>
              </a:rPr>
              <a:t> Login page</a:t>
            </a:r>
            <a:r>
              <a:rPr lang="en-US">
                <a:solidFill>
                  <a:schemeClr val="bg1"/>
                </a:solidFill>
                <a:ea typeface="+mn-lt"/>
                <a:cs typeface="+mn-lt"/>
              </a:rPr>
              <a:t>,  featuring a user-friendly interface where users can enter their email and password to access their accounts. The page includes a prominent login button and may display helpful error messages if incorrect information is entered.</a:t>
            </a:r>
            <a:endParaRPr lang="en-US">
              <a:solidFill>
                <a:schemeClr val="bg1"/>
              </a:solidFill>
            </a:endParaRPr>
          </a:p>
        </p:txBody>
      </p:sp>
    </p:spTree>
    <p:extLst>
      <p:ext uri="{BB962C8B-B14F-4D97-AF65-F5344CB8AC3E}">
        <p14:creationId xmlns:p14="http://schemas.microsoft.com/office/powerpoint/2010/main" val="257647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C74AF3-B960-23E5-3A1F-92B53A264E17}"/>
              </a:ext>
            </a:extLst>
          </p:cNvPr>
          <p:cNvSpPr/>
          <p:nvPr/>
        </p:nvSpPr>
        <p:spPr>
          <a:xfrm>
            <a:off x="0" y="0"/>
            <a:ext cx="12192000"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4540FD24-3DA2-C5E6-0DF3-C35FEC9F1972}"/>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B77E1F97-8995-CCFD-FAAB-FE16935CBD2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E49ABCFC-AEA4-FCA7-62F5-F1204AFD904C}"/>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3" name="Picture 2" descr="A computer screen shot of a website&#10;&#10;Description automatically generated">
            <a:extLst>
              <a:ext uri="{FF2B5EF4-FFF2-40B4-BE49-F238E27FC236}">
                <a16:creationId xmlns:a16="http://schemas.microsoft.com/office/drawing/2014/main" id="{50FAD506-E3E6-2F56-2A48-44CE51E660F3}"/>
              </a:ext>
            </a:extLst>
          </p:cNvPr>
          <p:cNvPicPr>
            <a:picLocks noChangeAspect="1"/>
          </p:cNvPicPr>
          <p:nvPr/>
        </p:nvPicPr>
        <p:blipFill>
          <a:blip r:embed="rId4"/>
          <a:stretch>
            <a:fillRect/>
          </a:stretch>
        </p:blipFill>
        <p:spPr>
          <a:xfrm>
            <a:off x="6315466" y="1716718"/>
            <a:ext cx="5408895" cy="3313002"/>
          </a:xfrm>
          <a:prstGeom prst="rect">
            <a:avLst/>
          </a:prstGeom>
        </p:spPr>
      </p:pic>
      <p:pic>
        <p:nvPicPr>
          <p:cNvPr id="4" name="Picture 3" descr="A computer screen shot of a hand holding a steering wheel&#10;&#10;Description automatically generated">
            <a:extLst>
              <a:ext uri="{FF2B5EF4-FFF2-40B4-BE49-F238E27FC236}">
                <a16:creationId xmlns:a16="http://schemas.microsoft.com/office/drawing/2014/main" id="{54E60D2C-FCD3-8203-FF2E-759364EEE5B6}"/>
              </a:ext>
            </a:extLst>
          </p:cNvPr>
          <p:cNvPicPr>
            <a:picLocks noChangeAspect="1"/>
          </p:cNvPicPr>
          <p:nvPr/>
        </p:nvPicPr>
        <p:blipFill>
          <a:blip r:embed="rId5"/>
          <a:stretch>
            <a:fillRect/>
          </a:stretch>
        </p:blipFill>
        <p:spPr>
          <a:xfrm>
            <a:off x="319088" y="1717567"/>
            <a:ext cx="5577083" cy="3328791"/>
          </a:xfrm>
          <a:prstGeom prst="rect">
            <a:avLst/>
          </a:prstGeom>
        </p:spPr>
      </p:pic>
      <p:sp>
        <p:nvSpPr>
          <p:cNvPr id="5" name="TextBox 4">
            <a:extLst>
              <a:ext uri="{FF2B5EF4-FFF2-40B4-BE49-F238E27FC236}">
                <a16:creationId xmlns:a16="http://schemas.microsoft.com/office/drawing/2014/main" id="{A2FF56AD-03E8-8251-F68A-1ED512768BFC}"/>
              </a:ext>
            </a:extLst>
          </p:cNvPr>
          <p:cNvSpPr txBox="1"/>
          <p:nvPr/>
        </p:nvSpPr>
        <p:spPr>
          <a:xfrm>
            <a:off x="240083" y="5352726"/>
            <a:ext cx="5739007"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ea typeface="+mn-lt"/>
                <a:cs typeface="+mn-lt"/>
              </a:rPr>
              <a:t>This picture shows the </a:t>
            </a:r>
            <a:r>
              <a:rPr lang="en-US" sz="1600" b="1">
                <a:solidFill>
                  <a:srgbClr val="FFFF00"/>
                </a:solidFill>
                <a:ea typeface="+mn-lt"/>
                <a:cs typeface="+mn-lt"/>
              </a:rPr>
              <a:t>Dashboard Page</a:t>
            </a:r>
            <a:r>
              <a:rPr lang="en-US" sz="1600">
                <a:solidFill>
                  <a:schemeClr val="bg1"/>
                </a:solidFill>
                <a:ea typeface="+mn-lt"/>
                <a:cs typeface="+mn-lt"/>
              </a:rPr>
              <a:t> of the </a:t>
            </a:r>
            <a:r>
              <a:rPr lang="en-US" sz="1600" err="1">
                <a:solidFill>
                  <a:schemeClr val="bg1"/>
                </a:solidFill>
                <a:ea typeface="+mn-lt"/>
                <a:cs typeface="+mn-lt"/>
              </a:rPr>
              <a:t>MyShuttle</a:t>
            </a:r>
            <a:r>
              <a:rPr lang="en-US" sz="1600">
                <a:solidFill>
                  <a:schemeClr val="bg1"/>
                </a:solidFill>
                <a:ea typeface="+mn-lt"/>
                <a:cs typeface="+mn-lt"/>
              </a:rPr>
              <a:t> application, which includes a link to access the user's </a:t>
            </a:r>
            <a:r>
              <a:rPr lang="en-US" sz="1600" b="1">
                <a:solidFill>
                  <a:schemeClr val="bg1"/>
                </a:solidFill>
                <a:ea typeface="+mn-lt"/>
                <a:cs typeface="+mn-lt"/>
              </a:rPr>
              <a:t>Fare History</a:t>
            </a:r>
            <a:r>
              <a:rPr lang="en-US" sz="1600">
                <a:solidFill>
                  <a:schemeClr val="bg1"/>
                </a:solidFill>
                <a:ea typeface="+mn-lt"/>
                <a:cs typeface="+mn-lt"/>
              </a:rPr>
              <a:t>. </a:t>
            </a:r>
            <a:endParaRPr lang="en-US" sz="1600">
              <a:solidFill>
                <a:schemeClr val="bg1"/>
              </a:solidFill>
              <a:ea typeface="Calibri"/>
              <a:cs typeface="Calibri"/>
            </a:endParaRPr>
          </a:p>
        </p:txBody>
      </p:sp>
      <p:sp>
        <p:nvSpPr>
          <p:cNvPr id="6" name="TextBox 5">
            <a:extLst>
              <a:ext uri="{FF2B5EF4-FFF2-40B4-BE49-F238E27FC236}">
                <a16:creationId xmlns:a16="http://schemas.microsoft.com/office/drawing/2014/main" id="{88E7D7D0-89D0-7FBD-3C39-3E143219C119}"/>
              </a:ext>
            </a:extLst>
          </p:cNvPr>
          <p:cNvSpPr txBox="1"/>
          <p:nvPr/>
        </p:nvSpPr>
        <p:spPr>
          <a:xfrm>
            <a:off x="6315205" y="5352728"/>
            <a:ext cx="5498924"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rPr>
              <a:t>This picture displays the </a:t>
            </a:r>
            <a:r>
              <a:rPr lang="en-US" sz="1600" b="1">
                <a:solidFill>
                  <a:srgbClr val="FFFF00"/>
                </a:solidFill>
              </a:rPr>
              <a:t>Employee's Fare History</a:t>
            </a:r>
            <a:r>
              <a:rPr lang="en-US" sz="1600">
                <a:solidFill>
                  <a:schemeClr val="bg1"/>
                </a:solidFill>
              </a:rPr>
              <a:t>, showcasing a detailed record of all fares associated with the employee.</a:t>
            </a:r>
            <a:endParaRPr lang="en-US">
              <a:solidFill>
                <a:schemeClr val="bg1"/>
              </a:solidFill>
            </a:endParaRPr>
          </a:p>
        </p:txBody>
      </p:sp>
    </p:spTree>
    <p:extLst>
      <p:ext uri="{BB962C8B-B14F-4D97-AF65-F5344CB8AC3E}">
        <p14:creationId xmlns:p14="http://schemas.microsoft.com/office/powerpoint/2010/main" val="659883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58CAEF-7789-12A7-03CB-61B59902F59C}"/>
              </a:ext>
            </a:extLst>
          </p:cNvPr>
          <p:cNvSpPr/>
          <p:nvPr/>
        </p:nvSpPr>
        <p:spPr>
          <a:xfrm>
            <a:off x="0" y="0"/>
            <a:ext cx="12192000" cy="6858000"/>
          </a:xfrm>
          <a:prstGeom prst="rect">
            <a:avLst/>
          </a:prstGeom>
          <a:solidFill>
            <a:srgbClr val="1510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u="sng">
              <a:solidFill>
                <a:srgbClr val="0563C1"/>
              </a:solidFill>
              <a:cs typeface="Segoe UI"/>
            </a:endParaRPr>
          </a:p>
        </p:txBody>
      </p:sp>
      <p:pic>
        <p:nvPicPr>
          <p:cNvPr id="6" name="Graphic 5">
            <a:extLst>
              <a:ext uri="{FF2B5EF4-FFF2-40B4-BE49-F238E27FC236}">
                <a16:creationId xmlns:a16="http://schemas.microsoft.com/office/drawing/2014/main" id="{DFE07ED2-FAB3-CE97-B1F9-0F4CCC4E955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7" name="Straight Connector 6">
            <a:extLst>
              <a:ext uri="{FF2B5EF4-FFF2-40B4-BE49-F238E27FC236}">
                <a16:creationId xmlns:a16="http://schemas.microsoft.com/office/drawing/2014/main" id="{231B970E-992F-42D0-4FC1-CB5C276E94F2}"/>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35F9A9DB-F26A-1DAF-AA90-A467EDF34B5E}"/>
              </a:ext>
            </a:extLst>
          </p:cNvPr>
          <p:cNvSpPr txBox="1"/>
          <p:nvPr/>
        </p:nvSpPr>
        <p:spPr>
          <a:xfrm>
            <a:off x="324763" y="892348"/>
            <a:ext cx="28194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Calibri"/>
                <a:cs typeface="Calibri"/>
              </a:rPr>
              <a:t>Automation Testing</a:t>
            </a:r>
            <a:endParaRPr lang="en-US" sz="2400" b="1">
              <a:solidFill>
                <a:schemeClr val="bg1"/>
              </a:solidFill>
            </a:endParaRPr>
          </a:p>
        </p:txBody>
      </p:sp>
      <p:sp>
        <p:nvSpPr>
          <p:cNvPr id="3" name="TextBox 2">
            <a:extLst>
              <a:ext uri="{FF2B5EF4-FFF2-40B4-BE49-F238E27FC236}">
                <a16:creationId xmlns:a16="http://schemas.microsoft.com/office/drawing/2014/main" id="{6A3397D2-976A-2AE2-0A2D-683B53BC6908}"/>
              </a:ext>
            </a:extLst>
          </p:cNvPr>
          <p:cNvSpPr txBox="1"/>
          <p:nvPr/>
        </p:nvSpPr>
        <p:spPr>
          <a:xfrm>
            <a:off x="351890" y="4944442"/>
            <a:ext cx="554665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latin typeface="Calibri"/>
              </a:rPr>
              <a:t>For more information, refer to the provided Git</a:t>
            </a:r>
            <a:r>
              <a:rPr lang="en-US" sz="1800" baseline="0">
                <a:solidFill>
                  <a:srgbClr val="FFFFFF"/>
                </a:solidFill>
                <a:latin typeface="Calibri"/>
              </a:rPr>
              <a:t> Repository </a:t>
            </a:r>
            <a:endParaRPr lang="en-US">
              <a:solidFill>
                <a:srgbClr val="000000"/>
              </a:solidFill>
              <a:latin typeface="Calibri"/>
            </a:endParaRPr>
          </a:p>
          <a:p>
            <a:r>
              <a:rPr lang="en-US" sz="1800" baseline="0">
                <a:solidFill>
                  <a:srgbClr val="FFFFFF"/>
                </a:solidFill>
                <a:latin typeface="Calibri"/>
              </a:rPr>
              <a:t>Link: </a:t>
            </a:r>
            <a:r>
              <a:rPr lang="en-US">
                <a:solidFill>
                  <a:srgbClr val="FFFFFF"/>
                </a:solidFill>
                <a:ea typeface="+mn-lt"/>
                <a:cs typeface="+mn-lt"/>
                <a:hlinkClick r:id="rId4"/>
              </a:rPr>
              <a:t>cognixia042025/MyShuttle/Myshuttle at saipalleboina_repository-branch · sureshnanjan</a:t>
            </a:r>
            <a:r>
              <a:rPr lang="en-US" sz="1800" strike="noStrike" baseline="0">
                <a:solidFill>
                  <a:srgbClr val="FFFFFF"/>
                </a:solidFill>
                <a:ea typeface="+mn-lt"/>
                <a:cs typeface="+mn-lt"/>
                <a:hlinkClick r:id="rId4"/>
              </a:rPr>
              <a:t>/</a:t>
            </a:r>
            <a:r>
              <a:rPr lang="en-US">
                <a:solidFill>
                  <a:srgbClr val="FFFFFF"/>
                </a:solidFill>
                <a:ea typeface="+mn-lt"/>
                <a:cs typeface="+mn-lt"/>
                <a:hlinkClick r:id="rId4"/>
              </a:rPr>
              <a:t>cognixia042025</a:t>
            </a:r>
            <a:endParaRPr lang="en-US">
              <a:ea typeface="Calibri"/>
              <a:cs typeface="Calibri"/>
            </a:endParaRPr>
          </a:p>
        </p:txBody>
      </p:sp>
      <p:sp>
        <p:nvSpPr>
          <p:cNvPr id="4" name="TextBox 3">
            <a:extLst>
              <a:ext uri="{FF2B5EF4-FFF2-40B4-BE49-F238E27FC236}">
                <a16:creationId xmlns:a16="http://schemas.microsoft.com/office/drawing/2014/main" id="{B9961552-EF18-F2FF-BB6F-649FEDCFD9C7}"/>
              </a:ext>
            </a:extLst>
          </p:cNvPr>
          <p:cNvSpPr txBox="1"/>
          <p:nvPr/>
        </p:nvSpPr>
        <p:spPr>
          <a:xfrm>
            <a:off x="327185" y="1571625"/>
            <a:ext cx="1151526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Automation testing for the </a:t>
            </a:r>
            <a:r>
              <a:rPr lang="en-US" err="1">
                <a:solidFill>
                  <a:schemeClr val="bg1"/>
                </a:solidFill>
              </a:rPr>
              <a:t>MyShuttle</a:t>
            </a:r>
            <a:r>
              <a:rPr lang="en-US">
                <a:solidFill>
                  <a:schemeClr val="bg1"/>
                </a:solidFill>
              </a:rPr>
              <a:t> application involves using automated test scripts and tools to verify the functionality, performance, and security of the application. The goal is to ensure that features like booking rides, tracking shuttles, and user authentication are working as expected across different devices and platforms. </a:t>
            </a:r>
          </a:p>
          <a:p>
            <a:endParaRPr lang="en-US">
              <a:solidFill>
                <a:schemeClr val="bg1"/>
              </a:solidFill>
              <a:ea typeface="+mn-lt"/>
              <a:cs typeface="+mn-lt"/>
            </a:endParaRPr>
          </a:p>
          <a:p>
            <a:r>
              <a:rPr lang="en-US" b="1">
                <a:solidFill>
                  <a:schemeClr val="bg1"/>
                </a:solidFill>
                <a:ea typeface="+mn-lt"/>
                <a:cs typeface="+mn-lt"/>
              </a:rPr>
              <a:t>Steps followed for Automation Testing of </a:t>
            </a:r>
            <a:r>
              <a:rPr lang="en-US" b="1" err="1">
                <a:solidFill>
                  <a:schemeClr val="bg1"/>
                </a:solidFill>
                <a:ea typeface="+mn-lt"/>
                <a:cs typeface="+mn-lt"/>
              </a:rPr>
              <a:t>MyShuttle</a:t>
            </a:r>
            <a:r>
              <a:rPr lang="en-US" b="1">
                <a:solidFill>
                  <a:schemeClr val="bg1"/>
                </a:solidFill>
                <a:ea typeface="+mn-lt"/>
                <a:cs typeface="+mn-lt"/>
              </a:rPr>
              <a:t>:</a:t>
            </a:r>
            <a:endParaRPr lang="en-US">
              <a:solidFill>
                <a:schemeClr val="bg1"/>
              </a:solidFill>
            </a:endParaRPr>
          </a:p>
          <a:p>
            <a:pPr marL="800100" lvl="1" indent="-342900">
              <a:buFont typeface="Arial"/>
              <a:buChar char="•"/>
            </a:pPr>
            <a:r>
              <a:rPr lang="en-US">
                <a:solidFill>
                  <a:schemeClr val="bg1"/>
                </a:solidFill>
                <a:ea typeface="+mn-lt"/>
                <a:cs typeface="+mn-lt"/>
              </a:rPr>
              <a:t>Deployment and Setup</a:t>
            </a:r>
            <a:endParaRPr lang="en-US">
              <a:solidFill>
                <a:schemeClr val="bg1"/>
              </a:solidFill>
              <a:ea typeface="Calibri" panose="020F0502020204030204"/>
              <a:cs typeface="Calibri" panose="020F0502020204030204"/>
            </a:endParaRPr>
          </a:p>
          <a:p>
            <a:pPr marL="800100" lvl="1" indent="-342900">
              <a:buFont typeface="Arial"/>
              <a:buChar char="•"/>
            </a:pPr>
            <a:r>
              <a:rPr lang="en-US">
                <a:solidFill>
                  <a:schemeClr val="bg1"/>
                </a:solidFill>
                <a:ea typeface="+mn-lt"/>
                <a:cs typeface="+mn-lt"/>
              </a:rPr>
              <a:t>Tool Selection: Selenium </a:t>
            </a:r>
          </a:p>
          <a:p>
            <a:pPr marL="800100" lvl="1" indent="-342900">
              <a:buFont typeface="Arial"/>
              <a:buChar char="•"/>
            </a:pPr>
            <a:r>
              <a:rPr lang="en-US">
                <a:solidFill>
                  <a:schemeClr val="bg1"/>
                </a:solidFill>
                <a:ea typeface="+mn-lt"/>
                <a:cs typeface="+mn-lt"/>
              </a:rPr>
              <a:t>Test Case Creation: Object Model Implementation</a:t>
            </a:r>
            <a:endParaRPr lang="en-US">
              <a:solidFill>
                <a:schemeClr val="bg1"/>
              </a:solidFill>
            </a:endParaRPr>
          </a:p>
          <a:p>
            <a:pPr marL="800100" lvl="1" indent="-342900">
              <a:buFont typeface="Arial"/>
              <a:buChar char="•"/>
            </a:pPr>
            <a:r>
              <a:rPr lang="en-US">
                <a:solidFill>
                  <a:schemeClr val="bg1"/>
                </a:solidFill>
                <a:ea typeface="+mn-lt"/>
                <a:cs typeface="+mn-lt"/>
              </a:rPr>
              <a:t>Test Automation</a:t>
            </a:r>
            <a:endParaRPr lang="en-US">
              <a:solidFill>
                <a:schemeClr val="bg1"/>
              </a:solidFill>
              <a:ea typeface="Calibri" panose="020F0502020204030204"/>
              <a:cs typeface="Calibri" panose="020F0502020204030204"/>
            </a:endParaRPr>
          </a:p>
          <a:p>
            <a:pPr marL="800100" lvl="1" indent="-342900">
              <a:buFont typeface="Arial"/>
              <a:buChar char="•"/>
            </a:pPr>
            <a:r>
              <a:rPr lang="en-US">
                <a:solidFill>
                  <a:schemeClr val="bg1"/>
                </a:solidFill>
                <a:ea typeface="+mn-lt"/>
                <a:cs typeface="+mn-lt"/>
              </a:rPr>
              <a:t>Execution and Reporting</a:t>
            </a:r>
            <a:endParaRPr lang="en-US">
              <a:solidFill>
                <a:schemeClr val="bg1"/>
              </a:solidFill>
              <a:ea typeface="Calibri" panose="020F0502020204030204"/>
              <a:cs typeface="Calibri" panose="020F0502020204030204"/>
            </a:endParaRPr>
          </a:p>
          <a:p>
            <a:pPr marL="800100" lvl="1" indent="-342900">
              <a:buFont typeface="Arial"/>
              <a:buChar char="•"/>
            </a:pPr>
            <a:r>
              <a:rPr lang="en-US">
                <a:solidFill>
                  <a:schemeClr val="bg1"/>
                </a:solidFill>
                <a:ea typeface="+mn-lt"/>
                <a:cs typeface="+mn-lt"/>
              </a:rPr>
              <a:t>Continuous Improvement</a:t>
            </a:r>
            <a:endParaRPr lang="en-US">
              <a:solidFill>
                <a:schemeClr val="bg1"/>
              </a:solidFill>
              <a:ea typeface="Calibri"/>
              <a:cs typeface="Calibri"/>
            </a:endParaRPr>
          </a:p>
          <a:p>
            <a:pPr marL="742950" lvl="1" indent="-285750">
              <a:buFont typeface="Arial"/>
              <a:buChar char="•"/>
            </a:pPr>
            <a:endParaRPr lang="en-US">
              <a:solidFill>
                <a:schemeClr val="bg1"/>
              </a:solidFill>
              <a:ea typeface="Calibri"/>
              <a:cs typeface="Calibri"/>
            </a:endParaRPr>
          </a:p>
          <a:p>
            <a:endParaRPr lang="en-US">
              <a:solidFill>
                <a:schemeClr val="bg1"/>
              </a:solidFill>
              <a:ea typeface="Calibri"/>
              <a:cs typeface="Calibri"/>
            </a:endParaRPr>
          </a:p>
        </p:txBody>
      </p:sp>
      <p:pic>
        <p:nvPicPr>
          <p:cNvPr id="9" name="Picture 8" descr="A screenshot of a computer program&#10;&#10;AI-generated content may be incorrect.">
            <a:extLst>
              <a:ext uri="{FF2B5EF4-FFF2-40B4-BE49-F238E27FC236}">
                <a16:creationId xmlns:a16="http://schemas.microsoft.com/office/drawing/2014/main" id="{140A7202-A16E-E753-BB91-C457AEE4B732}"/>
              </a:ext>
            </a:extLst>
          </p:cNvPr>
          <p:cNvPicPr>
            <a:picLocks noChangeAspect="1"/>
          </p:cNvPicPr>
          <p:nvPr/>
        </p:nvPicPr>
        <p:blipFill>
          <a:blip r:embed="rId5"/>
          <a:stretch>
            <a:fillRect/>
          </a:stretch>
        </p:blipFill>
        <p:spPr>
          <a:xfrm>
            <a:off x="6543851" y="2620945"/>
            <a:ext cx="4086607" cy="3977472"/>
          </a:xfrm>
          <a:prstGeom prst="rect">
            <a:avLst/>
          </a:prstGeom>
        </p:spPr>
      </p:pic>
    </p:spTree>
    <p:extLst>
      <p:ext uri="{BB962C8B-B14F-4D97-AF65-F5344CB8AC3E}">
        <p14:creationId xmlns:p14="http://schemas.microsoft.com/office/powerpoint/2010/main" val="4215444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306CF-AFC2-CEB4-4BD2-A8F9C486DC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D2E919-DD7D-F859-C218-99E17B6AADE6}"/>
              </a:ext>
            </a:extLst>
          </p:cNvPr>
          <p:cNvSpPr/>
          <p:nvPr/>
        </p:nvSpPr>
        <p:spPr>
          <a:xfrm>
            <a:off x="4661" y="2515"/>
            <a:ext cx="12192000"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endParaRPr>
          </a:p>
        </p:txBody>
      </p:sp>
      <p:sp>
        <p:nvSpPr>
          <p:cNvPr id="7" name="TextBox 6">
            <a:extLst>
              <a:ext uri="{FF2B5EF4-FFF2-40B4-BE49-F238E27FC236}">
                <a16:creationId xmlns:a16="http://schemas.microsoft.com/office/drawing/2014/main" id="{31B03CBF-875B-EDE4-C39B-13AEE33053B6}"/>
              </a:ext>
            </a:extLst>
          </p:cNvPr>
          <p:cNvSpPr txBox="1"/>
          <p:nvPr/>
        </p:nvSpPr>
        <p:spPr>
          <a:xfrm>
            <a:off x="324314" y="843425"/>
            <a:ext cx="6224804" cy="461665"/>
          </a:xfrm>
          <a:prstGeom prst="rect">
            <a:avLst/>
          </a:prstGeom>
          <a:noFill/>
        </p:spPr>
        <p:txBody>
          <a:bodyPr wrap="square" lIns="91440" tIns="45720" rIns="91440" bIns="45720" anchor="t">
            <a:spAutoFit/>
          </a:bodyPr>
          <a:lstStyle/>
          <a:p>
            <a:pPr algn="ctr"/>
            <a:r>
              <a:rPr lang="en-IN" sz="2400" b="1">
                <a:solidFill>
                  <a:schemeClr val="bg1"/>
                </a:solidFill>
                <a:latin typeface="Neue Machina"/>
                <a:ea typeface="Calibri"/>
              </a:rPr>
              <a:t>Automation Testing Execution</a:t>
            </a:r>
            <a:endParaRPr lang="en-IN" sz="2400" b="1">
              <a:solidFill>
                <a:schemeClr val="bg1"/>
              </a:solidFill>
              <a:latin typeface="Neue Machina" panose="00000500000000000000" pitchFamily="50" charset="0"/>
              <a:ea typeface="Calibri"/>
            </a:endParaRPr>
          </a:p>
        </p:txBody>
      </p:sp>
      <p:pic>
        <p:nvPicPr>
          <p:cNvPr id="8" name="Graphic 7">
            <a:extLst>
              <a:ext uri="{FF2B5EF4-FFF2-40B4-BE49-F238E27FC236}">
                <a16:creationId xmlns:a16="http://schemas.microsoft.com/office/drawing/2014/main" id="{2FB640B3-04EF-F3F3-BF7D-F48DD66DFF8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41737932-E780-37D0-856D-2712C357ED56}"/>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3" name="Picture 2" descr="A screenshot of a computer program&#10;&#10;AI-generated content may be incorrect.">
            <a:extLst>
              <a:ext uri="{FF2B5EF4-FFF2-40B4-BE49-F238E27FC236}">
                <a16:creationId xmlns:a16="http://schemas.microsoft.com/office/drawing/2014/main" id="{91B511B8-280B-531F-FB69-ABF81E75356F}"/>
              </a:ext>
            </a:extLst>
          </p:cNvPr>
          <p:cNvPicPr>
            <a:picLocks noChangeAspect="1"/>
          </p:cNvPicPr>
          <p:nvPr/>
        </p:nvPicPr>
        <p:blipFill>
          <a:blip r:embed="rId4"/>
          <a:stretch>
            <a:fillRect/>
          </a:stretch>
        </p:blipFill>
        <p:spPr>
          <a:xfrm>
            <a:off x="1207476" y="1719454"/>
            <a:ext cx="9026770" cy="4650016"/>
          </a:xfrm>
          <a:prstGeom prst="rect">
            <a:avLst/>
          </a:prstGeom>
        </p:spPr>
      </p:pic>
    </p:spTree>
    <p:extLst>
      <p:ext uri="{BB962C8B-B14F-4D97-AF65-F5344CB8AC3E}">
        <p14:creationId xmlns:p14="http://schemas.microsoft.com/office/powerpoint/2010/main" val="2526236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C74AF3-B960-23E5-3A1F-92B53A264E17}"/>
              </a:ext>
            </a:extLst>
          </p:cNvPr>
          <p:cNvSpPr/>
          <p:nvPr/>
        </p:nvSpPr>
        <p:spPr>
          <a:xfrm>
            <a:off x="4661" y="2515"/>
            <a:ext cx="12192000"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endParaRPr>
          </a:p>
        </p:txBody>
      </p:sp>
      <p:sp>
        <p:nvSpPr>
          <p:cNvPr id="7" name="TextBox 6">
            <a:extLst>
              <a:ext uri="{FF2B5EF4-FFF2-40B4-BE49-F238E27FC236}">
                <a16:creationId xmlns:a16="http://schemas.microsoft.com/office/drawing/2014/main" id="{4540FD24-3DA2-C5E6-0DF3-C35FEC9F1972}"/>
              </a:ext>
            </a:extLst>
          </p:cNvPr>
          <p:cNvSpPr txBox="1"/>
          <p:nvPr/>
        </p:nvSpPr>
        <p:spPr>
          <a:xfrm>
            <a:off x="324314" y="843425"/>
            <a:ext cx="6224804"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B77E1F97-8995-CCFD-FAAB-FE16935CBD2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E49ABCFC-AEA4-FCA7-62F5-F1204AFD904C}"/>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3" name="Picture 2" descr="A screenshot of a web page&#10;&#10;AI-generated content may be incorrect.">
            <a:extLst>
              <a:ext uri="{FF2B5EF4-FFF2-40B4-BE49-F238E27FC236}">
                <a16:creationId xmlns:a16="http://schemas.microsoft.com/office/drawing/2014/main" id="{870DEC73-CB97-A080-2264-E5BFAFD9431B}"/>
              </a:ext>
            </a:extLst>
          </p:cNvPr>
          <p:cNvPicPr>
            <a:picLocks noChangeAspect="1"/>
          </p:cNvPicPr>
          <p:nvPr/>
        </p:nvPicPr>
        <p:blipFill>
          <a:blip r:embed="rId4"/>
          <a:stretch>
            <a:fillRect/>
          </a:stretch>
        </p:blipFill>
        <p:spPr>
          <a:xfrm>
            <a:off x="1470186" y="1929789"/>
            <a:ext cx="8948945" cy="1942212"/>
          </a:xfrm>
          <a:prstGeom prst="rect">
            <a:avLst/>
          </a:prstGeom>
        </p:spPr>
      </p:pic>
      <p:sp>
        <p:nvSpPr>
          <p:cNvPr id="10" name="TextBox 9">
            <a:extLst>
              <a:ext uri="{FF2B5EF4-FFF2-40B4-BE49-F238E27FC236}">
                <a16:creationId xmlns:a16="http://schemas.microsoft.com/office/drawing/2014/main" id="{16451493-20AC-5741-E47E-F29910ECC92A}"/>
              </a:ext>
            </a:extLst>
          </p:cNvPr>
          <p:cNvSpPr txBox="1"/>
          <p:nvPr/>
        </p:nvSpPr>
        <p:spPr>
          <a:xfrm>
            <a:off x="4494417" y="4354837"/>
            <a:ext cx="29183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ea typeface="Calibri"/>
                <a:cs typeface="Calibri"/>
              </a:rPr>
              <a:t>Virtual Machine Instance</a:t>
            </a:r>
            <a:endParaRPr lang="en-US"/>
          </a:p>
        </p:txBody>
      </p:sp>
      <p:sp>
        <p:nvSpPr>
          <p:cNvPr id="5" name="TextBox 4">
            <a:extLst>
              <a:ext uri="{FF2B5EF4-FFF2-40B4-BE49-F238E27FC236}">
                <a16:creationId xmlns:a16="http://schemas.microsoft.com/office/drawing/2014/main" id="{33B08115-C5A1-49CD-8EE3-50B344DF75B0}"/>
              </a:ext>
            </a:extLst>
          </p:cNvPr>
          <p:cNvSpPr txBox="1"/>
          <p:nvPr/>
        </p:nvSpPr>
        <p:spPr>
          <a:xfrm>
            <a:off x="12735" y="5270584"/>
            <a:ext cx="1188138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Calibri"/>
                <a:cs typeface="Calibri"/>
              </a:rPr>
              <a:t>Link of Virtual Instance: </a:t>
            </a:r>
            <a:r>
              <a:rPr lang="en-US">
                <a:solidFill>
                  <a:schemeClr val="bg1"/>
                </a:solidFill>
                <a:ea typeface="+mn-lt"/>
                <a:cs typeface="+mn-lt"/>
                <a:hlinkClick r:id="rId5"/>
              </a:rPr>
              <a:t>https://console.cloud.google.com/compute/instances?hl=en&amp;inv=1&amp;invt=AbyZdw&amp;project=probable-dream-459616-f3</a:t>
            </a:r>
            <a:endParaRPr lang="en-US">
              <a:solidFill>
                <a:schemeClr val="bg1"/>
              </a:solidFill>
              <a:ea typeface="Calibri"/>
              <a:cs typeface="Calibri"/>
            </a:endParaRPr>
          </a:p>
        </p:txBody>
      </p:sp>
    </p:spTree>
    <p:extLst>
      <p:ext uri="{BB962C8B-B14F-4D97-AF65-F5344CB8AC3E}">
        <p14:creationId xmlns:p14="http://schemas.microsoft.com/office/powerpoint/2010/main" val="3212797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A57E5-0B04-087A-6F07-5A5715CBBC6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373ADC4-48BB-80CC-8901-E44062EAA51B}"/>
              </a:ext>
            </a:extLst>
          </p:cNvPr>
          <p:cNvSpPr/>
          <p:nvPr/>
        </p:nvSpPr>
        <p:spPr>
          <a:xfrm>
            <a:off x="11723" y="0"/>
            <a:ext cx="12156831"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B7A0CA0C-F0C1-B26B-3325-6B1E8FAA0BF8}"/>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8391CCD9-7B8E-59B1-F7D1-D92C68DFF67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B7712869-BD39-9338-304C-B98A6F78BA9D}"/>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E8D7275B-BB90-0DF1-03F7-1965193436CE}"/>
              </a:ext>
            </a:extLst>
          </p:cNvPr>
          <p:cNvSpPr txBox="1"/>
          <p:nvPr/>
        </p:nvSpPr>
        <p:spPr>
          <a:xfrm>
            <a:off x="333867" y="6231975"/>
            <a:ext cx="1185845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ea typeface="+mn-lt"/>
                <a:cs typeface="+mn-lt"/>
              </a:rPr>
              <a:t>These pictures shows the Performance testing execution &amp; results of </a:t>
            </a:r>
            <a:r>
              <a:rPr lang="en-US" sz="1600" err="1">
                <a:solidFill>
                  <a:schemeClr val="bg1"/>
                </a:solidFill>
                <a:ea typeface="+mn-lt"/>
                <a:cs typeface="+mn-lt"/>
              </a:rPr>
              <a:t>Myshuttle</a:t>
            </a:r>
            <a:r>
              <a:rPr lang="en-US" sz="1600">
                <a:solidFill>
                  <a:schemeClr val="bg1"/>
                </a:solidFill>
                <a:ea typeface="+mn-lt"/>
                <a:cs typeface="+mn-lt"/>
              </a:rPr>
              <a:t> using Apache </a:t>
            </a:r>
            <a:r>
              <a:rPr lang="en-US" sz="1600" err="1">
                <a:solidFill>
                  <a:schemeClr val="bg1"/>
                </a:solidFill>
                <a:ea typeface="+mn-lt"/>
                <a:cs typeface="+mn-lt"/>
              </a:rPr>
              <a:t>Jmeter</a:t>
            </a:r>
            <a:r>
              <a:rPr lang="en-US" sz="1600">
                <a:solidFill>
                  <a:schemeClr val="bg1"/>
                </a:solidFill>
                <a:ea typeface="+mn-lt"/>
                <a:cs typeface="+mn-lt"/>
              </a:rPr>
              <a:t> </a:t>
            </a:r>
            <a:endParaRPr lang="en-US" sz="1600">
              <a:solidFill>
                <a:schemeClr val="bg1"/>
              </a:solidFill>
              <a:ea typeface="Calibri"/>
              <a:cs typeface="Calibri"/>
            </a:endParaRPr>
          </a:p>
        </p:txBody>
      </p:sp>
      <p:pic>
        <p:nvPicPr>
          <p:cNvPr id="6" name="Picture 5" descr="A screenshot of a computer&#10;&#10;AI-generated content may be incorrect.">
            <a:extLst>
              <a:ext uri="{FF2B5EF4-FFF2-40B4-BE49-F238E27FC236}">
                <a16:creationId xmlns:a16="http://schemas.microsoft.com/office/drawing/2014/main" id="{3A90A3D8-2143-8180-832F-DF4542616973}"/>
              </a:ext>
            </a:extLst>
          </p:cNvPr>
          <p:cNvPicPr>
            <a:picLocks noChangeAspect="1"/>
          </p:cNvPicPr>
          <p:nvPr/>
        </p:nvPicPr>
        <p:blipFill>
          <a:blip r:embed="rId4"/>
          <a:stretch>
            <a:fillRect/>
          </a:stretch>
        </p:blipFill>
        <p:spPr>
          <a:xfrm>
            <a:off x="832338" y="1600434"/>
            <a:ext cx="9929448" cy="4430854"/>
          </a:xfrm>
          <a:prstGeom prst="rect">
            <a:avLst/>
          </a:prstGeom>
        </p:spPr>
      </p:pic>
    </p:spTree>
    <p:extLst>
      <p:ext uri="{BB962C8B-B14F-4D97-AF65-F5344CB8AC3E}">
        <p14:creationId xmlns:p14="http://schemas.microsoft.com/office/powerpoint/2010/main" val="2563750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B740C-98C4-2036-B89E-6AC2A7690B3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67408D-F670-D264-668B-5D957B5B22C9}"/>
              </a:ext>
            </a:extLst>
          </p:cNvPr>
          <p:cNvSpPr/>
          <p:nvPr/>
        </p:nvSpPr>
        <p:spPr>
          <a:xfrm>
            <a:off x="11723" y="0"/>
            <a:ext cx="12156831"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313F13D0-6A81-E6CE-C19F-5FE1DDBEAE3A}"/>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5E83D16C-EEE1-2A71-BE49-CE6BA6E8D8C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B656E920-CCFF-A2A6-7B4A-0057A633B15B}"/>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CC5D74D2-04BC-66E3-235A-1991D54A3498}"/>
              </a:ext>
            </a:extLst>
          </p:cNvPr>
          <p:cNvSpPr txBox="1"/>
          <p:nvPr/>
        </p:nvSpPr>
        <p:spPr>
          <a:xfrm>
            <a:off x="333867" y="6231975"/>
            <a:ext cx="1185845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ea typeface="+mn-lt"/>
                <a:cs typeface="+mn-lt"/>
              </a:rPr>
              <a:t>These pictures shows the Performance testing results of </a:t>
            </a:r>
            <a:r>
              <a:rPr lang="en-US" sz="1600" err="1">
                <a:solidFill>
                  <a:schemeClr val="bg1"/>
                </a:solidFill>
                <a:ea typeface="+mn-lt"/>
                <a:cs typeface="+mn-lt"/>
              </a:rPr>
              <a:t>Myshuttle</a:t>
            </a:r>
            <a:r>
              <a:rPr lang="en-US" sz="1600">
                <a:solidFill>
                  <a:schemeClr val="bg1"/>
                </a:solidFill>
                <a:ea typeface="+mn-lt"/>
                <a:cs typeface="+mn-lt"/>
              </a:rPr>
              <a:t> using Apache </a:t>
            </a:r>
            <a:r>
              <a:rPr lang="en-US" sz="1600" err="1">
                <a:solidFill>
                  <a:schemeClr val="bg1"/>
                </a:solidFill>
                <a:ea typeface="+mn-lt"/>
                <a:cs typeface="+mn-lt"/>
              </a:rPr>
              <a:t>Jmeter</a:t>
            </a:r>
            <a:r>
              <a:rPr lang="en-US" sz="1600">
                <a:solidFill>
                  <a:schemeClr val="bg1"/>
                </a:solidFill>
                <a:ea typeface="+mn-lt"/>
                <a:cs typeface="+mn-lt"/>
              </a:rPr>
              <a:t> </a:t>
            </a:r>
            <a:endParaRPr lang="en-US" sz="1600">
              <a:solidFill>
                <a:schemeClr val="bg1"/>
              </a:solidFill>
              <a:ea typeface="Calibri"/>
              <a:cs typeface="Calibri"/>
            </a:endParaRPr>
          </a:p>
        </p:txBody>
      </p:sp>
      <p:pic>
        <p:nvPicPr>
          <p:cNvPr id="3" name="Picture 2" descr="A screenshot of a graph&#10;&#10;AI-generated content may be incorrect.">
            <a:extLst>
              <a:ext uri="{FF2B5EF4-FFF2-40B4-BE49-F238E27FC236}">
                <a16:creationId xmlns:a16="http://schemas.microsoft.com/office/drawing/2014/main" id="{843FA154-730B-3258-2184-F39C892CB92C}"/>
              </a:ext>
            </a:extLst>
          </p:cNvPr>
          <p:cNvPicPr>
            <a:picLocks noChangeAspect="1"/>
          </p:cNvPicPr>
          <p:nvPr/>
        </p:nvPicPr>
        <p:blipFill>
          <a:blip r:embed="rId4"/>
          <a:stretch>
            <a:fillRect/>
          </a:stretch>
        </p:blipFill>
        <p:spPr>
          <a:xfrm>
            <a:off x="293076" y="1411465"/>
            <a:ext cx="6412524" cy="2370392"/>
          </a:xfrm>
          <a:prstGeom prst="rect">
            <a:avLst/>
          </a:prstGeom>
        </p:spPr>
      </p:pic>
      <p:pic>
        <p:nvPicPr>
          <p:cNvPr id="4" name="Picture 3" descr="A screenshot of a web page&#10;&#10;AI-generated content may be incorrect.">
            <a:extLst>
              <a:ext uri="{FF2B5EF4-FFF2-40B4-BE49-F238E27FC236}">
                <a16:creationId xmlns:a16="http://schemas.microsoft.com/office/drawing/2014/main" id="{D2FC0552-2D81-7DDD-3CC8-79C5D28A7BFB}"/>
              </a:ext>
            </a:extLst>
          </p:cNvPr>
          <p:cNvPicPr>
            <a:picLocks noChangeAspect="1"/>
          </p:cNvPicPr>
          <p:nvPr/>
        </p:nvPicPr>
        <p:blipFill>
          <a:blip r:embed="rId5"/>
          <a:stretch>
            <a:fillRect/>
          </a:stretch>
        </p:blipFill>
        <p:spPr>
          <a:xfrm>
            <a:off x="5709139" y="3785731"/>
            <a:ext cx="6482861" cy="2217307"/>
          </a:xfrm>
          <a:prstGeom prst="rect">
            <a:avLst/>
          </a:prstGeom>
        </p:spPr>
      </p:pic>
    </p:spTree>
    <p:extLst>
      <p:ext uri="{BB962C8B-B14F-4D97-AF65-F5344CB8AC3E}">
        <p14:creationId xmlns:p14="http://schemas.microsoft.com/office/powerpoint/2010/main" val="4291793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FA283-7D4E-80AE-ACB5-57CBA8C1FB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78E8C8E-294B-6E56-DFD5-80AFD4950DEB}"/>
              </a:ext>
            </a:extLst>
          </p:cNvPr>
          <p:cNvSpPr/>
          <p:nvPr/>
        </p:nvSpPr>
        <p:spPr>
          <a:xfrm>
            <a:off x="11723" y="0"/>
            <a:ext cx="12156831"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33C961FA-CF68-0E1F-B9B8-A7B3725C1638}"/>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A4EE8215-98B7-F27A-39DF-BA5E61E3AAE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9A6EF46C-AAC8-7449-2A47-2609CE230EDE}"/>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26D8822F-CDE4-9D3E-3634-9532484CF307}"/>
              </a:ext>
            </a:extLst>
          </p:cNvPr>
          <p:cNvSpPr txBox="1"/>
          <p:nvPr/>
        </p:nvSpPr>
        <p:spPr>
          <a:xfrm>
            <a:off x="298698" y="5692713"/>
            <a:ext cx="1185845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ea typeface="+mn-lt"/>
                <a:cs typeface="+mn-lt"/>
              </a:rPr>
              <a:t>This picture shows the Security testing Execution and results of </a:t>
            </a:r>
            <a:r>
              <a:rPr lang="en-US" sz="1600" err="1">
                <a:solidFill>
                  <a:schemeClr val="bg1"/>
                </a:solidFill>
                <a:ea typeface="+mn-lt"/>
                <a:cs typeface="+mn-lt"/>
              </a:rPr>
              <a:t>Myshuttle</a:t>
            </a:r>
            <a:r>
              <a:rPr lang="en-US" sz="1600">
                <a:solidFill>
                  <a:schemeClr val="bg1"/>
                </a:solidFill>
                <a:ea typeface="+mn-lt"/>
                <a:cs typeface="+mn-lt"/>
              </a:rPr>
              <a:t> using </a:t>
            </a:r>
            <a:r>
              <a:rPr lang="en-US" sz="1600" err="1">
                <a:solidFill>
                  <a:schemeClr val="bg1"/>
                </a:solidFill>
                <a:ea typeface="+mn-lt"/>
                <a:cs typeface="+mn-lt"/>
              </a:rPr>
              <a:t>Owasp</a:t>
            </a:r>
            <a:r>
              <a:rPr lang="en-US" sz="1600">
                <a:solidFill>
                  <a:schemeClr val="bg1"/>
                </a:solidFill>
                <a:ea typeface="+mn-lt"/>
                <a:cs typeface="+mn-lt"/>
              </a:rPr>
              <a:t> ZAPROXY</a:t>
            </a:r>
            <a:endParaRPr lang="en-US" sz="1600">
              <a:solidFill>
                <a:schemeClr val="bg1"/>
              </a:solidFill>
              <a:ea typeface="Calibri"/>
              <a:cs typeface="Calibri"/>
            </a:endParaRPr>
          </a:p>
        </p:txBody>
      </p:sp>
      <p:pic>
        <p:nvPicPr>
          <p:cNvPr id="3" name="Picture 2" descr="A screenshot of a computer program&#10;&#10;AI-generated content may be incorrect.">
            <a:extLst>
              <a:ext uri="{FF2B5EF4-FFF2-40B4-BE49-F238E27FC236}">
                <a16:creationId xmlns:a16="http://schemas.microsoft.com/office/drawing/2014/main" id="{197E64D9-AFC2-40CD-7B76-E439CC2E811A}"/>
              </a:ext>
            </a:extLst>
          </p:cNvPr>
          <p:cNvPicPr>
            <a:picLocks noChangeAspect="1"/>
          </p:cNvPicPr>
          <p:nvPr/>
        </p:nvPicPr>
        <p:blipFill>
          <a:blip r:embed="rId4"/>
          <a:stretch>
            <a:fillRect/>
          </a:stretch>
        </p:blipFill>
        <p:spPr>
          <a:xfrm>
            <a:off x="1633564" y="1441937"/>
            <a:ext cx="7330534" cy="3974125"/>
          </a:xfrm>
          <a:prstGeom prst="rect">
            <a:avLst/>
          </a:prstGeom>
        </p:spPr>
      </p:pic>
    </p:spTree>
    <p:extLst>
      <p:ext uri="{BB962C8B-B14F-4D97-AF65-F5344CB8AC3E}">
        <p14:creationId xmlns:p14="http://schemas.microsoft.com/office/powerpoint/2010/main" val="3357982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39007-0F26-CD91-93FF-702ED2F7ECC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B87CAD4-8D49-F5F5-40D7-CF61AB5DDDA3}"/>
              </a:ext>
            </a:extLst>
          </p:cNvPr>
          <p:cNvSpPr/>
          <p:nvPr/>
        </p:nvSpPr>
        <p:spPr>
          <a:xfrm>
            <a:off x="11723" y="0"/>
            <a:ext cx="12156831"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AA1D6A86-EE68-9581-1CF8-7C2A11A3D2F0}"/>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6D24A1B3-BB38-5DB0-2BC9-97E61AB2CBB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3DC41746-0C19-9F56-705E-C91297B5555D}"/>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8540D113-4B12-91D3-1EDC-982362F88204}"/>
              </a:ext>
            </a:extLst>
          </p:cNvPr>
          <p:cNvSpPr txBox="1"/>
          <p:nvPr/>
        </p:nvSpPr>
        <p:spPr>
          <a:xfrm>
            <a:off x="298698" y="5692713"/>
            <a:ext cx="1185845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ea typeface="+mn-lt"/>
                <a:cs typeface="+mn-lt"/>
              </a:rPr>
              <a:t>This picture shows the Security testing results of </a:t>
            </a:r>
            <a:r>
              <a:rPr lang="en-US" sz="1600" err="1">
                <a:solidFill>
                  <a:schemeClr val="bg1"/>
                </a:solidFill>
                <a:ea typeface="+mn-lt"/>
                <a:cs typeface="+mn-lt"/>
              </a:rPr>
              <a:t>Myshuttle</a:t>
            </a:r>
            <a:r>
              <a:rPr lang="en-US" sz="1600">
                <a:solidFill>
                  <a:schemeClr val="bg1"/>
                </a:solidFill>
                <a:ea typeface="+mn-lt"/>
                <a:cs typeface="+mn-lt"/>
              </a:rPr>
              <a:t> using </a:t>
            </a:r>
            <a:r>
              <a:rPr lang="en-US" sz="1600" err="1">
                <a:solidFill>
                  <a:schemeClr val="bg1"/>
                </a:solidFill>
                <a:ea typeface="+mn-lt"/>
                <a:cs typeface="+mn-lt"/>
              </a:rPr>
              <a:t>Owasp</a:t>
            </a:r>
            <a:r>
              <a:rPr lang="en-US" sz="1600">
                <a:solidFill>
                  <a:schemeClr val="bg1"/>
                </a:solidFill>
                <a:ea typeface="+mn-lt"/>
                <a:cs typeface="+mn-lt"/>
              </a:rPr>
              <a:t> ZAPROXY</a:t>
            </a:r>
            <a:endParaRPr lang="en-US" sz="1600">
              <a:solidFill>
                <a:schemeClr val="bg1"/>
              </a:solidFill>
              <a:ea typeface="Calibri"/>
              <a:cs typeface="Calibri"/>
            </a:endParaRPr>
          </a:p>
        </p:txBody>
      </p:sp>
      <p:pic>
        <p:nvPicPr>
          <p:cNvPr id="12" name="Picture 11" descr="A screenshot of a computer&#10;&#10;AI-generated content may be incorrect.">
            <a:extLst>
              <a:ext uri="{FF2B5EF4-FFF2-40B4-BE49-F238E27FC236}">
                <a16:creationId xmlns:a16="http://schemas.microsoft.com/office/drawing/2014/main" id="{E4F19400-E50E-DAD5-BA10-D8FE4D0BAC9A}"/>
              </a:ext>
            </a:extLst>
          </p:cNvPr>
          <p:cNvPicPr>
            <a:picLocks noChangeAspect="1"/>
          </p:cNvPicPr>
          <p:nvPr/>
        </p:nvPicPr>
        <p:blipFill>
          <a:blip r:embed="rId4"/>
          <a:stretch>
            <a:fillRect/>
          </a:stretch>
        </p:blipFill>
        <p:spPr>
          <a:xfrm>
            <a:off x="3048982" y="1711569"/>
            <a:ext cx="5578220" cy="3563816"/>
          </a:xfrm>
          <a:prstGeom prst="rect">
            <a:avLst/>
          </a:prstGeom>
        </p:spPr>
      </p:pic>
    </p:spTree>
    <p:extLst>
      <p:ext uri="{BB962C8B-B14F-4D97-AF65-F5344CB8AC3E}">
        <p14:creationId xmlns:p14="http://schemas.microsoft.com/office/powerpoint/2010/main" val="2622212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B244-6522-C384-1CCB-FBE859E236F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4F69C4D-D63D-48FA-B291-C711F31C1A6F}"/>
              </a:ext>
            </a:extLst>
          </p:cNvPr>
          <p:cNvSpPr/>
          <p:nvPr/>
        </p:nvSpPr>
        <p:spPr>
          <a:xfrm>
            <a:off x="11723" y="0"/>
            <a:ext cx="12156831"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C8E62EA9-D8A6-E83B-A480-8D68D14E62F6}"/>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E71989C2-9636-C40E-F076-144A971924B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B23EEBBD-58F0-1CDE-25B6-9EAFF66A03C8}"/>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AE010F9C-93B3-FD9C-CE3B-4A36AB080963}"/>
              </a:ext>
            </a:extLst>
          </p:cNvPr>
          <p:cNvSpPr txBox="1"/>
          <p:nvPr/>
        </p:nvSpPr>
        <p:spPr>
          <a:xfrm>
            <a:off x="298698" y="5692713"/>
            <a:ext cx="1185845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ea typeface="+mn-lt"/>
                <a:cs typeface="+mn-lt"/>
              </a:rPr>
              <a:t>This picture shows the API testing results of </a:t>
            </a:r>
            <a:r>
              <a:rPr lang="en-US" sz="1600" err="1">
                <a:solidFill>
                  <a:schemeClr val="bg1"/>
                </a:solidFill>
                <a:ea typeface="+mn-lt"/>
                <a:cs typeface="+mn-lt"/>
              </a:rPr>
              <a:t>Myshuttle</a:t>
            </a:r>
            <a:r>
              <a:rPr lang="en-US" sz="1600">
                <a:solidFill>
                  <a:schemeClr val="bg1"/>
                </a:solidFill>
                <a:ea typeface="+mn-lt"/>
                <a:cs typeface="+mn-lt"/>
              </a:rPr>
              <a:t> using POSTMAN</a:t>
            </a:r>
            <a:endParaRPr lang="en-US" sz="1600">
              <a:solidFill>
                <a:schemeClr val="bg1"/>
              </a:solidFill>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0436E04A-5A4A-2DE0-B3F0-B80AEE2CEDC0}"/>
              </a:ext>
            </a:extLst>
          </p:cNvPr>
          <p:cNvPicPr>
            <a:picLocks noChangeAspect="1"/>
          </p:cNvPicPr>
          <p:nvPr/>
        </p:nvPicPr>
        <p:blipFill>
          <a:blip r:embed="rId4"/>
          <a:stretch>
            <a:fillRect/>
          </a:stretch>
        </p:blipFill>
        <p:spPr>
          <a:xfrm>
            <a:off x="1395046" y="1577468"/>
            <a:ext cx="9425355" cy="3726512"/>
          </a:xfrm>
          <a:prstGeom prst="rect">
            <a:avLst/>
          </a:prstGeom>
        </p:spPr>
      </p:pic>
    </p:spTree>
    <p:extLst>
      <p:ext uri="{BB962C8B-B14F-4D97-AF65-F5344CB8AC3E}">
        <p14:creationId xmlns:p14="http://schemas.microsoft.com/office/powerpoint/2010/main" val="2291560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D5B1590-8954-6EF1-A6C9-785B3FD80545}"/>
              </a:ext>
            </a:extLst>
          </p:cNvPr>
          <p:cNvSpPr/>
          <p:nvPr/>
        </p:nvSpPr>
        <p:spPr>
          <a:xfrm>
            <a:off x="0" y="10583"/>
            <a:ext cx="12192000"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D138D6ED-DD80-8D48-2960-9D0F1FF02C71}"/>
              </a:ext>
            </a:extLst>
          </p:cNvPr>
          <p:cNvSpPr txBox="1"/>
          <p:nvPr/>
        </p:nvSpPr>
        <p:spPr>
          <a:xfrm>
            <a:off x="320829" y="899878"/>
            <a:ext cx="7952314" cy="461665"/>
          </a:xfrm>
          <a:prstGeom prst="rect">
            <a:avLst/>
          </a:prstGeom>
          <a:noFill/>
        </p:spPr>
        <p:txBody>
          <a:bodyPr wrap="square">
            <a:spAutoFit/>
          </a:bodyPr>
          <a:lstStyle/>
          <a:p>
            <a:r>
              <a:rPr lang="en-IN" sz="2400" b="1">
                <a:solidFill>
                  <a:schemeClr val="bg1"/>
                </a:solidFill>
                <a:effectLst/>
                <a:latin typeface="Neue Machina" panose="00000500000000000000" pitchFamily="50" charset="0"/>
                <a:ea typeface="Calibri" panose="020F0502020204030204" pitchFamily="34" charset="0"/>
              </a:rPr>
              <a:t>Conclusion</a:t>
            </a:r>
            <a:endParaRPr lang="en-GB" sz="2400" b="1">
              <a:solidFill>
                <a:schemeClr val="bg1"/>
              </a:solidFill>
              <a:latin typeface="Neue Machina" panose="00000500000000000000" pitchFamily="50" charset="0"/>
            </a:endParaRPr>
          </a:p>
        </p:txBody>
      </p:sp>
      <p:pic>
        <p:nvPicPr>
          <p:cNvPr id="12" name="Graphic 11">
            <a:extLst>
              <a:ext uri="{FF2B5EF4-FFF2-40B4-BE49-F238E27FC236}">
                <a16:creationId xmlns:a16="http://schemas.microsoft.com/office/drawing/2014/main" id="{48AA73DC-DF05-BBA1-E636-5FF6B7C59E9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13" name="Straight Connector 12">
            <a:extLst>
              <a:ext uri="{FF2B5EF4-FFF2-40B4-BE49-F238E27FC236}">
                <a16:creationId xmlns:a16="http://schemas.microsoft.com/office/drawing/2014/main" id="{CB947997-3F77-2664-A078-8CEB6B267A95}"/>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1745AA24-4446-8806-8E3A-C2D659883E90}"/>
              </a:ext>
            </a:extLst>
          </p:cNvPr>
          <p:cNvSpPr txBox="1"/>
          <p:nvPr/>
        </p:nvSpPr>
        <p:spPr>
          <a:xfrm>
            <a:off x="762000" y="1858027"/>
            <a:ext cx="988303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mn-lt"/>
                <a:cs typeface="+mn-lt"/>
              </a:rPr>
              <a:t>The journey through the Quality Engineering training and the completion of the </a:t>
            </a:r>
            <a:r>
              <a:rPr lang="en-US" err="1">
                <a:solidFill>
                  <a:schemeClr val="bg1"/>
                </a:solidFill>
                <a:ea typeface="+mn-lt"/>
                <a:cs typeface="+mn-lt"/>
              </a:rPr>
              <a:t>MyShuttle</a:t>
            </a:r>
            <a:r>
              <a:rPr lang="en-US">
                <a:solidFill>
                  <a:schemeClr val="bg1"/>
                </a:solidFill>
                <a:ea typeface="+mn-lt"/>
                <a:cs typeface="+mn-lt"/>
              </a:rPr>
              <a:t> application  project have been profoundly enriching and insightful. Over the past 30 days, we gained comprehensive exposure to essential skills such as </a:t>
            </a:r>
            <a:r>
              <a:rPr lang="en-US" b="1">
                <a:solidFill>
                  <a:schemeClr val="bg1"/>
                </a:solidFill>
                <a:ea typeface="+mn-lt"/>
                <a:cs typeface="+mn-lt"/>
              </a:rPr>
              <a:t>Java programming, Selenium for automation, manual testing, performance testing, API testing and Google Cloud Platform</a:t>
            </a:r>
            <a:r>
              <a:rPr lang="en-US">
                <a:solidFill>
                  <a:schemeClr val="bg1"/>
                </a:solidFill>
                <a:ea typeface="+mn-lt"/>
                <a:cs typeface="+mn-lt"/>
              </a:rPr>
              <a:t>.</a:t>
            </a:r>
            <a:endParaRPr lang="en-US">
              <a:solidFill>
                <a:schemeClr val="bg1"/>
              </a:solidFill>
              <a:ea typeface="Calibri"/>
              <a:cs typeface="Calibri"/>
            </a:endParaRPr>
          </a:p>
          <a:p>
            <a:endParaRPr lang="en-US">
              <a:solidFill>
                <a:schemeClr val="bg1"/>
              </a:solidFill>
              <a:ea typeface="+mn-lt"/>
              <a:cs typeface="+mn-lt"/>
            </a:endParaRPr>
          </a:p>
          <a:p>
            <a:r>
              <a:rPr lang="en-US">
                <a:solidFill>
                  <a:schemeClr val="bg1"/>
                </a:solidFill>
                <a:ea typeface="+mn-lt"/>
                <a:cs typeface="+mn-lt"/>
              </a:rPr>
              <a:t>The </a:t>
            </a:r>
            <a:r>
              <a:rPr lang="en-US" err="1">
                <a:solidFill>
                  <a:schemeClr val="bg1"/>
                </a:solidFill>
                <a:ea typeface="+mn-lt"/>
                <a:cs typeface="+mn-lt"/>
              </a:rPr>
              <a:t>MyShuttle</a:t>
            </a:r>
            <a:r>
              <a:rPr lang="en-US">
                <a:solidFill>
                  <a:schemeClr val="bg1"/>
                </a:solidFill>
                <a:ea typeface="+mn-lt"/>
                <a:cs typeface="+mn-lt"/>
              </a:rPr>
              <a:t> project served as a hands-on opportunity to apply these learnings effectively.  By implementing features like login, fare history, and dashboard, we enhanced our understanding of </a:t>
            </a:r>
            <a:r>
              <a:rPr lang="en-US" b="1">
                <a:solidFill>
                  <a:schemeClr val="bg1"/>
                </a:solidFill>
                <a:ea typeface="+mn-lt"/>
                <a:cs typeface="+mn-lt"/>
              </a:rPr>
              <a:t>real-world application development and testing methodologies</a:t>
            </a:r>
            <a:r>
              <a:rPr lang="en-US">
                <a:solidFill>
                  <a:schemeClr val="bg1"/>
                </a:solidFill>
                <a:ea typeface="+mn-lt"/>
                <a:cs typeface="+mn-lt"/>
              </a:rPr>
              <a:t>. Additionally, the structured daily scrum meetings simulated an office environment, improving our ability to </a:t>
            </a:r>
            <a:r>
              <a:rPr lang="en-US" b="1">
                <a:solidFill>
                  <a:schemeClr val="bg1"/>
                </a:solidFill>
                <a:ea typeface="+mn-lt"/>
                <a:cs typeface="+mn-lt"/>
              </a:rPr>
              <a:t>collaborate, communicate, and deliver as a team</a:t>
            </a:r>
            <a:r>
              <a:rPr lang="en-US">
                <a:solidFill>
                  <a:schemeClr val="bg1"/>
                </a:solidFill>
                <a:ea typeface="+mn-lt"/>
                <a:cs typeface="+mn-lt"/>
              </a:rPr>
              <a:t>.</a:t>
            </a:r>
            <a:endParaRPr lang="en-US">
              <a:solidFill>
                <a:schemeClr val="bg1"/>
              </a:solidFill>
            </a:endParaRPr>
          </a:p>
          <a:p>
            <a:pPr algn="l"/>
            <a:endParaRPr lang="en-US">
              <a:ea typeface="Calibri"/>
              <a:cs typeface="Calibri"/>
            </a:endParaRPr>
          </a:p>
        </p:txBody>
      </p:sp>
    </p:spTree>
    <p:extLst>
      <p:ext uri="{BB962C8B-B14F-4D97-AF65-F5344CB8AC3E}">
        <p14:creationId xmlns:p14="http://schemas.microsoft.com/office/powerpoint/2010/main" val="3534369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103A12-0AA4-00C6-4CFD-58A6489D245B}"/>
              </a:ext>
            </a:extLst>
          </p:cNvPr>
          <p:cNvSpPr txBox="1"/>
          <p:nvPr/>
        </p:nvSpPr>
        <p:spPr>
          <a:xfrm>
            <a:off x="1" y="2028617"/>
            <a:ext cx="5505450" cy="2800767"/>
          </a:xfrm>
          <a:prstGeom prst="rect">
            <a:avLst/>
          </a:prstGeom>
          <a:noFill/>
        </p:spPr>
        <p:txBody>
          <a:bodyPr wrap="square">
            <a:spAutoFit/>
          </a:bodyPr>
          <a:lstStyle/>
          <a:p>
            <a:pPr algn="ctr"/>
            <a:r>
              <a:rPr lang="en-IN" sz="8800" b="1">
                <a:solidFill>
                  <a:schemeClr val="bg1"/>
                </a:solidFill>
                <a:effectLst/>
                <a:latin typeface="Neue Machina" panose="00000500000000000000" pitchFamily="50" charset="0"/>
                <a:ea typeface="Calibri" panose="020F0502020204030204" pitchFamily="34" charset="0"/>
              </a:rPr>
              <a:t>Thank You</a:t>
            </a:r>
            <a:endParaRPr lang="en-GB" sz="11500" b="1">
              <a:solidFill>
                <a:schemeClr val="bg1"/>
              </a:solidFill>
              <a:latin typeface="Neue Machina" panose="00000500000000000000" pitchFamily="50" charset="0"/>
            </a:endParaRPr>
          </a:p>
        </p:txBody>
      </p:sp>
      <p:pic>
        <p:nvPicPr>
          <p:cNvPr id="4" name="Graphic 3">
            <a:extLst>
              <a:ext uri="{FF2B5EF4-FFF2-40B4-BE49-F238E27FC236}">
                <a16:creationId xmlns:a16="http://schemas.microsoft.com/office/drawing/2014/main" id="{3F09ED73-5AFE-1A76-96F6-922011A6242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90623" y="0"/>
            <a:ext cx="2401377" cy="902226"/>
          </a:xfrm>
          <a:prstGeom prst="rect">
            <a:avLst/>
          </a:prstGeom>
        </p:spPr>
      </p:pic>
    </p:spTree>
    <p:extLst>
      <p:ext uri="{BB962C8B-B14F-4D97-AF65-F5344CB8AC3E}">
        <p14:creationId xmlns:p14="http://schemas.microsoft.com/office/powerpoint/2010/main" val="112193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Karan Soni</dc:creator>
  <cp:revision>1</cp:revision>
  <dcterms:created xsi:type="dcterms:W3CDTF">2023-02-09T10:19:33Z</dcterms:created>
  <dcterms:modified xsi:type="dcterms:W3CDTF">2025-05-26T08:49:25Z</dcterms:modified>
</cp:coreProperties>
</file>